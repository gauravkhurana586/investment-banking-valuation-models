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930467-66A7-4AC2-A1D8-1D4714C83205}">
  <a:tblStyle styleId="{19930467-66A7-4AC2-A1D8-1D4714C832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45"/>
  </p:normalViewPr>
  <p:slideViewPr>
    <p:cSldViewPr snapToGrid="0">
      <p:cViewPr varScale="1">
        <p:scale>
          <a:sx n="145" d="100"/>
          <a:sy n="145" d="100"/>
        </p:scale>
        <p:origin x="47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</c:rich>
      </c:tx>
      <c:layout>
        <c:manualLayout>
          <c:xMode val="edge"/>
          <c:yMode val="edge"/>
          <c:x val="0.7522024924190065"/>
          <c:y val="0.77689715435268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Sheet1!$B$8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6A-7849-A222-0F7F90A894F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6A-7849-A222-0F7F90A894FD}"/>
              </c:ext>
            </c:extLst>
          </c:dPt>
          <c:cat>
            <c:strRef>
              <c:f>Sheet1!$A$2:$A$3</c:f>
              <c:strCache>
                <c:ptCount val="2"/>
                <c:pt idx="0">
                  <c:v>Subscription (Recurring)</c:v>
                </c:pt>
                <c:pt idx="1">
                  <c:v>Professional Services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FE-454E-9D41-450200034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Term Loan B</c:v>
                </c:pt>
                <c:pt idx="1">
                  <c:v>Sub / Notes</c:v>
                </c:pt>
                <c:pt idx="2">
                  <c:v>Sponsor Equity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</c:v>
                </c:pt>
                <c:pt idx="1">
                  <c:v>3500</c:v>
                </c:pt>
                <c:pt idx="2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8-4D40-85C5-84C34118E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0769839"/>
        <c:axId val="520771551"/>
      </c:barChart>
      <c:catAx>
        <c:axId val="52076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71551"/>
        <c:crosses val="autoZero"/>
        <c:auto val="1"/>
        <c:lblAlgn val="ctr"/>
        <c:lblOffset val="100"/>
        <c:noMultiLvlLbl val="0"/>
      </c:catAx>
      <c:valAx>
        <c:axId val="520771551"/>
        <c:scaling>
          <c:orientation val="minMax"/>
          <c:min val="2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69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LTM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710</c:v>
                </c:pt>
                <c:pt idx="1">
                  <c:v>772</c:v>
                </c:pt>
                <c:pt idx="2">
                  <c:v>857</c:v>
                </c:pt>
                <c:pt idx="3">
                  <c:v>954</c:v>
                </c:pt>
                <c:pt idx="4">
                  <c:v>1040</c:v>
                </c:pt>
                <c:pt idx="5">
                  <c:v>1122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D6-3446-AB11-41981E0934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6196911"/>
        <c:axId val="517207503"/>
      </c:lineChart>
      <c:catAx>
        <c:axId val="986196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207503"/>
        <c:crosses val="autoZero"/>
        <c:auto val="1"/>
        <c:lblAlgn val="ctr"/>
        <c:lblOffset val="100"/>
        <c:noMultiLvlLbl val="0"/>
      </c:catAx>
      <c:valAx>
        <c:axId val="517207503"/>
        <c:scaling>
          <c:orientation val="minMax"/>
          <c:min val="6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196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Leverage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006199796600075E-2"/>
          <c:y val="9.3918175107721463E-2"/>
          <c:w val="0.87632714484300955"/>
          <c:h val="0.704937992125984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5.3</c:v>
                </c:pt>
                <c:pt idx="2">
                  <c:v>4.7</c:v>
                </c:pt>
                <c:pt idx="3">
                  <c:v>4</c:v>
                </c:pt>
                <c:pt idx="4">
                  <c:v>3.4</c:v>
                </c:pt>
                <c:pt idx="5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91-E946-BBD7-9A324C9E2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6885103"/>
        <c:axId val="541147071"/>
      </c:lineChart>
      <c:catAx>
        <c:axId val="51688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147071"/>
        <c:crosses val="autoZero"/>
        <c:auto val="1"/>
        <c:lblAlgn val="ctr"/>
        <c:lblOffset val="100"/>
        <c:noMultiLvlLbl val="0"/>
      </c:catAx>
      <c:valAx>
        <c:axId val="54114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885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814305107243055"/>
          <c:y val="0.13153149606299214"/>
          <c:w val="0.86185694892756948"/>
          <c:h val="0.704937992125984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Entry Equity</c:v>
                </c:pt>
                <c:pt idx="1">
                  <c:v>EBITDA Growth</c:v>
                </c:pt>
                <c:pt idx="2">
                  <c:v>Debt Repayment</c:v>
                </c:pt>
                <c:pt idx="3">
                  <c:v>Exit Multiples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7500</c:v>
                </c:pt>
                <c:pt idx="1">
                  <c:v>9000</c:v>
                </c:pt>
                <c:pt idx="2">
                  <c:v>4900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1-8F4B-90BC-38A276FCE9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Entry Equity</c:v>
                </c:pt>
                <c:pt idx="1">
                  <c:v>EBITDA Growth</c:v>
                </c:pt>
                <c:pt idx="2">
                  <c:v>Debt Repayment</c:v>
                </c:pt>
                <c:pt idx="3">
                  <c:v>Exit Multiples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32E1-8F4B-90BC-38A276FCE9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Entry Equity</c:v>
                </c:pt>
                <c:pt idx="1">
                  <c:v>EBITDA Growth</c:v>
                </c:pt>
                <c:pt idx="2">
                  <c:v>Debt Repayment</c:v>
                </c:pt>
                <c:pt idx="3">
                  <c:v>Exit Multiples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32E1-8F4B-90BC-38A276FCE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6147951"/>
        <c:axId val="545301231"/>
      </c:barChart>
      <c:catAx>
        <c:axId val="54614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301231"/>
        <c:crosses val="autoZero"/>
        <c:auto val="1"/>
        <c:lblAlgn val="ctr"/>
        <c:lblOffset val="100"/>
        <c:noMultiLvlLbl val="0"/>
      </c:catAx>
      <c:valAx>
        <c:axId val="545301231"/>
        <c:scaling>
          <c:orientation val="minMax"/>
          <c:min val="45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614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732347883797401"/>
          <c:y val="0.94285720968636044"/>
          <c:w val="0.24535280098947182"/>
          <c:h val="5.71427903136395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866480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866480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664809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664809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664809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664809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8664809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8664809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28664809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28664809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8664809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8664809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8664809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8664809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8664809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8664809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8664809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28664809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28664809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28664809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28664809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28664809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939200"/>
            <a:ext cx="8520600" cy="10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Proofpoint, Inc.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7">
                <a:latin typeface="Times New Roman"/>
                <a:ea typeface="Times New Roman"/>
                <a:cs typeface="Times New Roman"/>
                <a:sym typeface="Times New Roman"/>
              </a:rPr>
              <a:t>A Leading American Cybersecurity Company</a:t>
            </a:r>
            <a:endParaRPr sz="197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Acquisition by Thoma Bravo</a:t>
            </a: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Dated : October 2025</a:t>
            </a: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10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 – For illustrative purposes only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167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Transaction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1114200"/>
          <a:ext cx="5391950" cy="329157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269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 (mm)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Sponsor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Thoma Bravo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Proofpoint, Inc.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Type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Take- private LBO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$2891.7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Entry Multiples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9.0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1332.5 (46%)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1559.3 (54%)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Holding Period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years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" name="Google Shape;62;p14"/>
          <p:cNvSpPr txBox="1"/>
          <p:nvPr/>
        </p:nvSpPr>
        <p:spPr>
          <a:xfrm>
            <a:off x="6066160" y="1114200"/>
            <a:ext cx="2295300" cy="265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enterprise cybersecurity SaaS platform</a:t>
            </a:r>
            <a:b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recurring revenue and strong cash generation</a:t>
            </a:r>
            <a:b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PE returns driven by growth and deleveraging</a:t>
            </a:r>
          </a:p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</a:pPr>
            <a:endParaRPr lang="en"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04800"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lang="en-US" sz="12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$320mm LTM EBITDA; 95% recurring revenue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6300" y="4654300"/>
            <a:ext cx="4815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Company financials, Sponsor Estimates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717709863"/>
              </p:ext>
            </p:extLst>
          </p:nvPr>
        </p:nvGraphicFramePr>
        <p:xfrm>
          <a:off x="345550" y="1170727"/>
          <a:ext cx="2985150" cy="182865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49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of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Security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Compliance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Archiving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Google Shape;70;p15"/>
          <p:cNvSpPr txBox="1"/>
          <p:nvPr/>
        </p:nvSpPr>
        <p:spPr>
          <a:xfrm>
            <a:off x="238757" y="3152379"/>
            <a:ext cx="38646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Subscription-based SaaS revenue model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Enterprise-focused customer base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Mission-critical cybersecurity products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70250" y="4563450"/>
            <a:ext cx="46404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mix illustrative and based on company disclosures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3FA881F-2030-5D1D-03ED-F668FF5064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2810607"/>
              </p:ext>
            </p:extLst>
          </p:nvPr>
        </p:nvGraphicFramePr>
        <p:xfrm>
          <a:off x="4572000" y="1170727"/>
          <a:ext cx="3864599" cy="2968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SaaS &amp; Cybersecurity Market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5748725" y="1446000"/>
            <a:ext cx="3004800" cy="155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0426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7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Rising cloud and email security demand</a:t>
            </a:r>
            <a:br>
              <a:rPr lang="en" sz="47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76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26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7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switching costs drive retention</a:t>
            </a:r>
            <a:br>
              <a:rPr lang="en" sz="47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76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26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47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Secular tailwinds support long-term growth</a:t>
            </a:r>
            <a:endParaRPr sz="476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76016"/>
              <a:buNone/>
            </a:pP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76016"/>
              <a:buNone/>
            </a:pP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76016"/>
              <a:buNone/>
            </a:pPr>
            <a:endParaRPr sz="1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ct val="61111"/>
              <a:buNone/>
            </a:pPr>
            <a:endParaRPr sz="15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311700" y="1383150"/>
          <a:ext cx="3619500" cy="237726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Market Size($bn)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2030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 txBox="1"/>
          <p:nvPr/>
        </p:nvSpPr>
        <p:spPr>
          <a:xfrm>
            <a:off x="311700" y="4381750"/>
            <a:ext cx="44655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Industry Reports, Management Estimates.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Investment Thesis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262800" y="399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77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no multiple expansion at exit</a:t>
            </a:r>
            <a:endParaRPr sz="47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311700" y="1554450"/>
          <a:ext cx="7239000" cy="190500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 Lever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Benefits for ProofPoint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 Growth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Upsell, cross-sell, enterprise expansion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Margin expansion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leverage and cost discipline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FCF enables rapid deleveraging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Conservative multiple, EBITDA growth driven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Sources and Uses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53625" y="4569025"/>
            <a:ext cx="8520600" cy="2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closing debt financing and standard transaction fees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386475" y="1730550"/>
          <a:ext cx="3031925" cy="146292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69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 of Equity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2835.0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Fees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56.7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Uses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2891.7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4" name="Google Shape;94;p18"/>
          <p:cNvGraphicFramePr/>
          <p:nvPr/>
        </p:nvGraphicFramePr>
        <p:xfrm>
          <a:off x="4691325" y="1730550"/>
          <a:ext cx="3073875" cy="182865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74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 Loan B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1134.0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Subordinated Debt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425.3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Sponsor Equity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1332.5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Sources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2891.7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Capital Structure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4260050"/>
            <a:ext cx="6896100" cy="6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90">
                <a:latin typeface="Times New Roman"/>
                <a:ea typeface="Times New Roman"/>
                <a:cs typeface="Times New Roman"/>
                <a:sym typeface="Times New Roman"/>
              </a:rPr>
              <a:t>Leverage consistent with large-cap software LBOs</a:t>
            </a:r>
            <a:endParaRPr sz="11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989"/>
          </a:p>
        </p:txBody>
      </p:sp>
      <p:graphicFrame>
        <p:nvGraphicFramePr>
          <p:cNvPr id="101" name="Google Shape;101;p19"/>
          <p:cNvGraphicFramePr/>
          <p:nvPr>
            <p:extLst>
              <p:ext uri="{D42A27DB-BD31-4B8C-83A1-F6EECF244321}">
                <p14:modId xmlns:p14="http://schemas.microsoft.com/office/powerpoint/2010/main" val="615208019"/>
              </p:ext>
            </p:extLst>
          </p:nvPr>
        </p:nvGraphicFramePr>
        <p:xfrm>
          <a:off x="311700" y="1684860"/>
          <a:ext cx="3526250" cy="131061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76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Entry 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Amount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Debt/ 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4.95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/ EV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53.9%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5D017C1-DDD4-324D-FB3B-61D05154A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6116067"/>
              </p:ext>
            </p:extLst>
          </p:nvPr>
        </p:nvGraphicFramePr>
        <p:xfrm>
          <a:off x="4093749" y="1017724"/>
          <a:ext cx="4513919" cy="316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Operating Projections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4331625"/>
            <a:ext cx="384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Sponsor projections, base-case assumption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548600" y="1516450"/>
          <a:ext cx="3401350" cy="190500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70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F564D6E-B07E-FBCA-1652-7EE00F288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064548"/>
              </p:ext>
            </p:extLst>
          </p:nvPr>
        </p:nvGraphicFramePr>
        <p:xfrm>
          <a:off x="4317022" y="539750"/>
          <a:ext cx="440494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Debt Repayment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171925" y="4125775"/>
            <a:ext cx="34470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100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excess cash fully sweeps debt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210225" y="1428750"/>
          <a:ext cx="4585800" cy="228600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5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Opening Debt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Closing Debt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1559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" name="Google Shape;116;p21"/>
          <p:cNvSpPr txBox="1"/>
          <p:nvPr/>
        </p:nvSpPr>
        <p:spPr>
          <a:xfrm>
            <a:off x="5525075" y="4149877"/>
            <a:ext cx="34470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Debt / EBITDA vs Net Leverage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347DC8A-BB72-94DE-A1B2-673B7C19E6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310898"/>
              </p:ext>
            </p:extLst>
          </p:nvPr>
        </p:nvGraphicFramePr>
        <p:xfrm>
          <a:off x="5035479" y="800100"/>
          <a:ext cx="3537858" cy="3349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276750" y="221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imes New Roman"/>
                <a:ea typeface="Times New Roman"/>
                <a:cs typeface="Times New Roman"/>
                <a:sym typeface="Times New Roman"/>
              </a:rPr>
              <a:t>Exit &amp; Returns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453552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9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Returns driven by EBITDA growth and deleveraging, not multiple expansion</a:t>
            </a:r>
            <a:endParaRPr sz="12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endParaRPr sz="3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428375" y="1047750"/>
          <a:ext cx="3619500" cy="304800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EBITDA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EV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4400.1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Proceeds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4400.1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3.33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2297E5C-6073-280E-1CE9-C24CB2177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8707030"/>
              </p:ext>
            </p:extLst>
          </p:nvPr>
        </p:nvGraphicFramePr>
        <p:xfrm>
          <a:off x="4571999" y="507725"/>
          <a:ext cx="4143625" cy="4275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186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Sensitivity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7862000" y="759175"/>
            <a:ext cx="1202100" cy="31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1Exit Multiple vs IRR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 ARR Growth vs IRR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0" name="Google Shape;130;p23"/>
          <p:cNvGraphicFramePr/>
          <p:nvPr>
            <p:extLst>
              <p:ext uri="{D42A27DB-BD31-4B8C-83A1-F6EECF244321}">
                <p14:modId xmlns:p14="http://schemas.microsoft.com/office/powerpoint/2010/main" val="216768641"/>
              </p:ext>
            </p:extLst>
          </p:nvPr>
        </p:nvGraphicFramePr>
        <p:xfrm>
          <a:off x="449350" y="1075950"/>
          <a:ext cx="7239000" cy="146292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7.5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 x </a:t>
                      </a:r>
                      <a:endParaRPr sz="12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27%</a:t>
                      </a:r>
                      <a:endParaRPr sz="1200" dirty="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1" name="Google Shape;131;p23"/>
          <p:cNvGraphicFramePr/>
          <p:nvPr>
            <p:extLst>
              <p:ext uri="{D42A27DB-BD31-4B8C-83A1-F6EECF244321}">
                <p14:modId xmlns:p14="http://schemas.microsoft.com/office/powerpoint/2010/main" val="3657304234"/>
              </p:ext>
            </p:extLst>
          </p:nvPr>
        </p:nvGraphicFramePr>
        <p:xfrm>
          <a:off x="407425" y="2855625"/>
          <a:ext cx="7239000" cy="1462920"/>
        </p:xfrm>
        <a:graphic>
          <a:graphicData uri="http://schemas.openxmlformats.org/drawingml/2006/table">
            <a:tbl>
              <a:tblPr>
                <a:noFill/>
                <a:tableStyleId>{19930467-66A7-4AC2-A1D8-1D4714C83205}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 CAGR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10%</a:t>
                      </a:r>
                      <a:endParaRPr sz="12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27%</a:t>
                      </a:r>
                      <a:endParaRPr sz="1200" dirty="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2" name="Google Shape;132;p23"/>
          <p:cNvSpPr txBox="1"/>
          <p:nvPr/>
        </p:nvSpPr>
        <p:spPr>
          <a:xfrm>
            <a:off x="511968" y="4506000"/>
            <a:ext cx="62406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Sensitivities </a:t>
            </a: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base-case leverage 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cost assumptions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311700" y="1159475"/>
            <a:ext cx="8520600" cy="2137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Mission-critical cybersecurity SaaS with strong recurring revenue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Conservative underwriting with downside protection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PE returns driven by fundamentals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440275" y="4360800"/>
            <a:ext cx="6736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final due diligence and financing conditions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473</Words>
  <Application>Microsoft Macintosh PowerPoint</Application>
  <PresentationFormat>On-screen Show (16:9)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Proofpoint, Inc. A Leading American Cybersecurity Company</vt:lpstr>
      <vt:lpstr>Transaction Overview</vt:lpstr>
      <vt:lpstr>Business Overview</vt:lpstr>
      <vt:lpstr>SaaS &amp; Cybersecurity Market</vt:lpstr>
      <vt:lpstr>Investment Thesis</vt:lpstr>
      <vt:lpstr>Sources and Uses </vt:lpstr>
      <vt:lpstr>Capital Structure</vt:lpstr>
      <vt:lpstr>Operating Projections </vt:lpstr>
      <vt:lpstr>Debt Repayment</vt:lpstr>
      <vt:lpstr>Exit &amp; Returns</vt:lpstr>
      <vt:lpstr>Sensitivity  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4</cp:revision>
  <dcterms:modified xsi:type="dcterms:W3CDTF">2026-02-03T18:56:39Z</dcterms:modified>
</cp:coreProperties>
</file>