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076646-D3A1-47EA-8338-2FAF15E6D9CC}">
  <a:tblStyle styleId="{7D076646-D3A1-47EA-8338-2FAF15E6D9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45"/>
  </p:normalViewPr>
  <p:slideViewPr>
    <p:cSldViewPr snapToGrid="0">
      <p:cViewPr varScale="1">
        <p:scale>
          <a:sx n="145" d="100"/>
          <a:sy n="145" d="100"/>
        </p:scale>
        <p:origin x="47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&amp;</a:t>
            </a:r>
            <a:r>
              <a:rPr lang="en-US" sz="1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EBITDA Scale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LTM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8.8000000000000007</c:v>
                </c:pt>
                <c:pt idx="1">
                  <c:v>8.5</c:v>
                </c:pt>
                <c:pt idx="2">
                  <c:v>8.6999999999999993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D0-774C-A3BC-31E66FBE18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LTM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3.2</c:v>
                </c:pt>
                <c:pt idx="1">
                  <c:v>3.1</c:v>
                </c:pt>
                <c:pt idx="2">
                  <c:v>3.3</c:v>
                </c:pt>
                <c:pt idx="3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D0-774C-A3BC-31E66FBE18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8614271"/>
        <c:axId val="718460079"/>
      </c:lineChart>
      <c:catAx>
        <c:axId val="718614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8460079"/>
        <c:crosses val="autoZero"/>
        <c:auto val="1"/>
        <c:lblAlgn val="ctr"/>
        <c:lblOffset val="100"/>
        <c:noMultiLvlLbl val="0"/>
      </c:catAx>
      <c:valAx>
        <c:axId val="7184600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8614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by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08F-254D-A48A-DAE8D914FEB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08F-254D-A48A-DAE8D914FE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08F-254D-A48A-DAE8D914FEB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08F-254D-A48A-DAE8D914FE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Call of Duty</c:v>
                </c:pt>
                <c:pt idx="1">
                  <c:v>Candy Crush </c:v>
                </c:pt>
                <c:pt idx="2">
                  <c:v>World of Warcraft</c:v>
                </c:pt>
                <c:pt idx="3">
                  <c:v>Diablo / 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A9-7B45-A2CA-6A6D0C761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Trading Comps</c:v>
                </c:pt>
                <c:pt idx="1">
                  <c:v>Precedent Transaction</c:v>
                </c:pt>
                <c:pt idx="2">
                  <c:v>DCF</c:v>
                </c:pt>
                <c:pt idx="3">
                  <c:v>Microsoft Offer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75</c:v>
                </c:pt>
                <c:pt idx="2">
                  <c:v>80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0F-1244-850D-68D6068198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Trading Comps</c:v>
                </c:pt>
                <c:pt idx="1">
                  <c:v>Precedent Transaction</c:v>
                </c:pt>
                <c:pt idx="2">
                  <c:v>DCF</c:v>
                </c:pt>
                <c:pt idx="3">
                  <c:v>Microsoft Offer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15</c:v>
                </c:pt>
                <c:pt idx="2">
                  <c:v>15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0F-1244-850D-68D6068198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20200111"/>
        <c:axId val="720334591"/>
      </c:barChart>
      <c:catAx>
        <c:axId val="7202001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0334591"/>
        <c:crosses val="autoZero"/>
        <c:auto val="1"/>
        <c:lblAlgn val="ctr"/>
        <c:lblOffset val="100"/>
        <c:noMultiLvlLbl val="0"/>
      </c:catAx>
      <c:valAx>
        <c:axId val="720334591"/>
        <c:scaling>
          <c:orientation val="minMax"/>
          <c:min val="6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0200111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Year 1 </cx:pt>
          <cx:pt idx="1">Year 2</cx:pt>
          <cx:pt idx="2">Year 3</cx:pt>
          <cx:pt idx="3">Year 4</cx:pt>
        </cx:lvl>
      </cx:strDim>
      <cx:numDim type="val">
        <cx:f>Sheet1!$B$2:$B$5</cx:f>
        <cx:lvl ptCount="4" formatCode="0%">
          <cx:pt idx="0">-0.040000000000000001</cx:pt>
          <cx:pt idx="1">-0.02</cx:pt>
          <cx:pt idx="2">0.01</cx:pt>
          <cx:pt idx="3">3</cx:pt>
        </cx:lvl>
      </cx:numDim>
    </cx:data>
  </cx:chartData>
  <cx:chart>
    <cx:title pos="t" align="ctr" overlay="0">
      <cx:tx>
        <cx:txData>
          <cx:v>EPS Impact %</cx:v>
        </cx:txData>
      </cx:tx>
      <cx:txPr>
        <a:bodyPr rot="0" spcFirstLastPara="1" vertOverflow="ellipsis" vert="horz" wrap="square" lIns="38100" tIns="19050" rIns="38100" bIns="19050" anchor="ctr" anchorCtr="1" compatLnSpc="0"/>
        <a:lstStyle/>
        <a:p>
          <a:pPr algn="ctr" rtl="0">
            <a:defRPr sz="1862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r>
            <a: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rPr>
            <a:t>EPS Impact %</a:t>
          </a:r>
        </a:p>
      </cx:txPr>
    </cx:title>
    <cx:plotArea>
      <cx:plotAreaRegion>
        <cx:series layoutId="waterfall" uniqueId="{5D89A46B-D11C-DB47-B8BC-2E7C24531236}">
          <cx:tx>
            <cx:txData>
              <cx:f>Sheet1!$B$1</cx:f>
              <cx:v>EPS Impact</cx:v>
            </cx:txData>
          </cx:tx>
          <cx:dataId val="0"/>
          <cx:layoutPr>
            <cx:subtotals/>
          </cx:layoutPr>
        </cx:series>
      </cx:plotAreaRegion>
      <cx:axis id="0">
        <cx:catScaling gapWidth="2.19000006"/>
        <cx:tickLabels/>
      </cx:axis>
      <cx:axis id="1">
        <cx:valScaling/>
        <cx:majorGridlines/>
        <cx:tickLabels/>
        <cx:numFmt formatCode="General" sourceLinked="0"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87250d2f_0_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87250d2f_0_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287250d2f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287250d2f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287250d2f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287250d2f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287250d2f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287250d2f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287250d2f_0_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287250d2f_0_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287250d2f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287250d2f_0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287250d2f_0_7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287250d2f_0_7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2fa1df0b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2fa1df0b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287250d2f_0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287250d2f_0_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287250d2f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287250d2f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32750" y="458000"/>
            <a:ext cx="85206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Activision Blizzard, Inc.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Global Leader in Interactive Entertainment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21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by Microsoft Corporation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Confidential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Dated - November 2025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21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Transaction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67725" y="4414075"/>
            <a:ext cx="92349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br>
              <a:rPr lang="en" sz="12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Largest gaming acquisition ever, materially expanding Microsoft’s content, subscription, and platform ecosystem.</a:t>
            </a:r>
            <a:endParaRPr sz="12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16772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{7D076646-D3A1-47EA-8338-2FAF15E6D9CC}</a:tableStyleId>
              </a:tblPr>
              <a:tblGrid>
                <a:gridCol w="322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Overview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Acquirer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Microsoft Corporation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Activision Blizzard, Inc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 Value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$69 billion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Consideration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 Cash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Offer Price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$95.00 Per Share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Premium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45% to unaffected share price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Deal Type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Strategic Acquisition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Closing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Subject to regulatory approvals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Target Company Financials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90075" y="3516075"/>
            <a:ext cx="4015500" cy="1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Activision Blizzard Overview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leader in interactive entertainment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Franchises with multi-decade monetization cycles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presence across console, PC, and mobile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390075" y="1123900"/>
          <a:ext cx="4112050" cy="2286000"/>
        </p:xfrm>
        <a:graphic>
          <a:graphicData uri="http://schemas.openxmlformats.org/drawingml/2006/table">
            <a:tbl>
              <a:tblPr>
                <a:noFill/>
                <a:tableStyleId>{7D076646-D3A1-47EA-8338-2FAF15E6D9CC}</a:tableStyleId>
              </a:tblPr>
              <a:tblGrid>
                <a:gridCol w="205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Activision Blizzard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$8.0 bn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$3.6 bn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 Margin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Cash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 bn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Franchises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COD, WOW, Candy Crush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7117BE1-CCF3-12C0-5476-EAFC0C5E20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8631801"/>
              </p:ext>
            </p:extLst>
          </p:nvPr>
        </p:nvGraphicFramePr>
        <p:xfrm>
          <a:off x="4572000" y="844062"/>
          <a:ext cx="4260300" cy="3411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Strategic Rationale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40275" y="1348775"/>
            <a:ext cx="2655600" cy="1502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Premium Gaming IP Portfolio</a:t>
            </a:r>
            <a:endParaRPr sz="1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of Duty, World of Warcraft, Diablo, Candy Crush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Annualized releases and live-service monetization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440275" y="3217150"/>
            <a:ext cx="2655600" cy="1502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 &amp; Distribution Scale</a:t>
            </a:r>
            <a:endParaRPr sz="1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Console, PC, cloud, and mobile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Azure backend infrastructure leverage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4524475" y="3182225"/>
            <a:ext cx="2655600" cy="1502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Optionality</a:t>
            </a:r>
            <a:endParaRPr sz="1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gaming</a:t>
            </a:r>
            <a:b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expansion via King</a:t>
            </a:r>
            <a:b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Metaverse / immersive experiences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4524475" y="1348775"/>
            <a:ext cx="2655600" cy="1502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Acceleration of Game Pass</a:t>
            </a:r>
            <a:endParaRPr sz="1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Strengthens subscription value proposition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Drives recurring, high-margin revenue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Gaming Industry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3039744"/>
            <a:ext cx="4260300" cy="88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Trends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 from physical to digital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 and live services growth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gaming fastest-growing segment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5" name="Google Shape;85;p17"/>
          <p:cNvGraphicFramePr/>
          <p:nvPr/>
        </p:nvGraphicFramePr>
        <p:xfrm>
          <a:off x="484250" y="1413550"/>
          <a:ext cx="3507150" cy="1143000"/>
        </p:xfrm>
        <a:graphic>
          <a:graphicData uri="http://schemas.openxmlformats.org/drawingml/2006/table">
            <a:tbl>
              <a:tblPr>
                <a:noFill/>
                <a:tableStyleId>{7D076646-D3A1-47EA-8338-2FAF15E6D9CC}</a:tableStyleId>
              </a:tblPr>
              <a:tblGrid>
                <a:gridCol w="116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Market Size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300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CAGR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8-9%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410DBDB-30DA-A1A4-9B42-5FA9CF9D17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4320377"/>
              </p:ext>
            </p:extLst>
          </p:nvPr>
        </p:nvGraphicFramePr>
        <p:xfrm>
          <a:off x="4399450" y="672309"/>
          <a:ext cx="4260300" cy="3768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Valuation Football field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" name="Google Shape;91;p18"/>
          <p:cNvGraphicFramePr/>
          <p:nvPr/>
        </p:nvGraphicFramePr>
        <p:xfrm>
          <a:off x="311700" y="1486475"/>
          <a:ext cx="3619500" cy="1905000"/>
        </p:xfrm>
        <a:graphic>
          <a:graphicData uri="http://schemas.openxmlformats.org/drawingml/2006/table">
            <a:tbl>
              <a:tblPr>
                <a:noFill/>
                <a:tableStyleId>{7D076646-D3A1-47EA-8338-2FAF15E6D9CC}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Implied Value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Trading comps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$60-65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Precedent Transaction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$65-75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DCF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$70-75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Offer price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$69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140ED7D-FA71-2CCC-9C85-7456F51FD0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2195543"/>
              </p:ext>
            </p:extLst>
          </p:nvPr>
        </p:nvGraphicFramePr>
        <p:xfrm>
          <a:off x="4191000" y="1017724"/>
          <a:ext cx="4641300" cy="3434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8248733-03C0-2E1F-2642-5A5D77977118}"/>
              </a:ext>
            </a:extLst>
          </p:cNvPr>
          <p:cNvSpPr txBox="1"/>
          <p:nvPr/>
        </p:nvSpPr>
        <p:spPr>
          <a:xfrm>
            <a:off x="211016" y="4359921"/>
            <a:ext cx="558518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Implied multiple reflects strategic control premium for scarce, long-duration gaming IP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is not comparable to financial sponsor transactions or traditional media valuations.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Trading Comparables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3932400"/>
            <a:ext cx="8520600" cy="6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Trading Comparables shows how the sector as comparing to the Target Company Working.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8" name="Google Shape;98;p19"/>
          <p:cNvGraphicFramePr/>
          <p:nvPr/>
        </p:nvGraphicFramePr>
        <p:xfrm>
          <a:off x="311700" y="1215375"/>
          <a:ext cx="4684500" cy="1508730"/>
        </p:xfrm>
        <a:graphic>
          <a:graphicData uri="http://schemas.openxmlformats.org/drawingml/2006/table">
            <a:tbl>
              <a:tblPr>
                <a:noFill/>
                <a:tableStyleId>{7D076646-D3A1-47EA-8338-2FAF15E6D9CC}</a:tableStyleId>
              </a:tblPr>
              <a:tblGrid>
                <a:gridCol w="156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EV/ EBITDA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EV/ Revenue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Take- Two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Activision Blizzard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Precedent Transactions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11700" y="3996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 and gaming precedents are directional due to deal-specific strategic rationale.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344500" y="159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{7D076646-D3A1-47EA-8338-2FAF15E6D9CC}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Acquirer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EV/ EBITDA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Microsoft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ZeniMax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Tencent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supercell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Take-Two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Zynga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Accretion / Dilution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311700" y="2823325"/>
            <a:ext cx="3427200" cy="17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Drivers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Lost interest income on cash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Intangible amortization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FCF generation offsets dilution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112" name="Google Shape;112;p21"/>
          <p:cNvGraphicFramePr/>
          <p:nvPr>
            <p:extLst>
              <p:ext uri="{D42A27DB-BD31-4B8C-83A1-F6EECF244321}">
                <p14:modId xmlns:p14="http://schemas.microsoft.com/office/powerpoint/2010/main" val="603695352"/>
              </p:ext>
            </p:extLst>
          </p:nvPr>
        </p:nvGraphicFramePr>
        <p:xfrm>
          <a:off x="449325" y="1017725"/>
          <a:ext cx="3654590" cy="1524000"/>
        </p:xfrm>
        <a:graphic>
          <a:graphicData uri="http://schemas.openxmlformats.org/drawingml/2006/table">
            <a:tbl>
              <a:tblPr>
                <a:noFill/>
                <a:tableStyleId>{7D076646-D3A1-47EA-8338-2FAF15E6D9CC}</a:tableStyleId>
              </a:tblPr>
              <a:tblGrid>
                <a:gridCol w="1827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Impact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Slightly Dilutive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Neutral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3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Accretive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0B13473C-9C7F-9E31-0AAA-9BF2AEBD9A5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44120469"/>
                  </p:ext>
                </p:extLst>
              </p:nvPr>
            </p:nvGraphicFramePr>
            <p:xfrm>
              <a:off x="4571999" y="539750"/>
              <a:ext cx="4122675" cy="4064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0B13473C-9C7F-9E31-0AAA-9BF2AEBD9A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1999" y="539750"/>
                <a:ext cx="4122675" cy="406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248525" y="1133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Risks &amp; Regulations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311700" y="826400"/>
            <a:ext cx="8520600" cy="41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Risks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Regulatory / Antitrust</a:t>
            </a:r>
            <a:endParaRPr sz="1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U.S., UK, EU scrutiny due to platform ownership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 Exclusivity</a:t>
            </a:r>
            <a:endParaRPr sz="1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of limiting franchise reach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</a:t>
            </a:r>
            <a:endParaRPr sz="1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Cultural and studio autonomy concerns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Mitigants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Binding commitments to multi-platform access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 balance sheet strength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Decentralized studio operating model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Recommendation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0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15" b="1">
                <a:solidFill>
                  <a:schemeClr val="dk1"/>
                </a:solidFill>
              </a:rPr>
              <a:t>I</a:t>
            </a:r>
            <a:r>
              <a:rPr lang="en" sz="5015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nvestment Merits</a:t>
            </a:r>
            <a:endParaRPr sz="5015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8219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50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Expands premium gaming IP portfolio</a:t>
            </a:r>
            <a:br>
              <a:rPr lang="en" sz="50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0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821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50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Strengthens Game Pass ecosystem</a:t>
            </a:r>
            <a:br>
              <a:rPr lang="en" sz="50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0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821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50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Accelerates subscription revenue growth</a:t>
            </a:r>
            <a:br>
              <a:rPr lang="en" sz="50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0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821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50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long-term free cash flow</a:t>
            </a:r>
            <a:endParaRPr sz="50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7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311700" y="4221025"/>
            <a:ext cx="8340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 should acquire Activision Blizzard to secure long-term leadership in gaming and interactive entertainment, with manageable regulatory risk and compelling strategic upside.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501</Words>
  <Application>Microsoft Macintosh PowerPoint</Application>
  <PresentationFormat>On-screen Show (16:9)</PresentationFormat>
  <Paragraphs>153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Simple Light</vt:lpstr>
      <vt:lpstr>Activision Blizzard, Inc. Global Leader in Interactive Entertainment</vt:lpstr>
      <vt:lpstr>Transaction Overview</vt:lpstr>
      <vt:lpstr>Target Company Financials</vt:lpstr>
      <vt:lpstr>Strategic Rationale </vt:lpstr>
      <vt:lpstr>Gaming Industry Overview</vt:lpstr>
      <vt:lpstr>Valuation Football field  </vt:lpstr>
      <vt:lpstr>Trading Comparables</vt:lpstr>
      <vt:lpstr>Precedent Transactions</vt:lpstr>
      <vt:lpstr>Accretion / Dilution</vt:lpstr>
      <vt:lpstr>Risks &amp; Regulations</vt:lpstr>
      <vt:lpstr>Recommendation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Gaurav</cp:lastModifiedBy>
  <cp:revision>2</cp:revision>
  <dcterms:modified xsi:type="dcterms:W3CDTF">2026-02-03T18:41:35Z</dcterms:modified>
</cp:coreProperties>
</file>