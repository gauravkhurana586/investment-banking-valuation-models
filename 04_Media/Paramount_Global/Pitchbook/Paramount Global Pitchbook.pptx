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44B621-9EF6-4920-A267-29054772E280}">
  <a:tblStyle styleId="{D444B621-9EF6-4920-A267-29054772E2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45"/>
  </p:normalViewPr>
  <p:slideViewPr>
    <p:cSldViewPr snapToGrid="0">
      <p:cViewPr varScale="1">
        <p:scale>
          <a:sx n="145" d="100"/>
          <a:sy n="145" d="100"/>
        </p:scale>
        <p:origin x="47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CBS Broadcast</c:v>
                </c:pt>
                <c:pt idx="1">
                  <c:v>Paramount Picture</c:v>
                </c:pt>
                <c:pt idx="2">
                  <c:v>DTC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F7-AB44-99E9-87FD7B107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2477887"/>
        <c:axId val="662479599"/>
      </c:barChart>
      <c:catAx>
        <c:axId val="662477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479599"/>
        <c:crosses val="autoZero"/>
        <c:auto val="1"/>
        <c:lblAlgn val="ctr"/>
        <c:lblOffset val="100"/>
        <c:noMultiLvlLbl val="0"/>
      </c:catAx>
      <c:valAx>
        <c:axId val="6624795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477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Subscribers (bn)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1.1000000000000001</c:v>
                </c:pt>
                <c:pt idx="1">
                  <c:v>1.25</c:v>
                </c:pt>
                <c:pt idx="2">
                  <c:v>1.4</c:v>
                </c:pt>
                <c:pt idx="3">
                  <c:v>1.55</c:v>
                </c:pt>
                <c:pt idx="4">
                  <c:v>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6B-E542-BC11-23E6BE905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1865375"/>
        <c:axId val="681867103"/>
      </c:lineChart>
      <c:catAx>
        <c:axId val="681865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867103"/>
        <c:crosses val="autoZero"/>
        <c:auto val="1"/>
        <c:lblAlgn val="ctr"/>
        <c:lblOffset val="100"/>
        <c:noMultiLvlLbl val="0"/>
      </c:catAx>
      <c:valAx>
        <c:axId val="681867103"/>
        <c:scaling>
          <c:orientation val="minMax"/>
          <c:min val="0.6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865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Multiples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Netflix</c:v>
                </c:pt>
                <c:pt idx="1">
                  <c:v>Disney</c:v>
                </c:pt>
                <c:pt idx="2">
                  <c:v>Warner Bros</c:v>
                </c:pt>
                <c:pt idx="3">
                  <c:v>Paramount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11.5</c:v>
                </c:pt>
                <c:pt idx="2">
                  <c:v>8.5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4A-4B46-A6EE-22AE24C6B6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75002847"/>
        <c:axId val="679321295"/>
      </c:barChart>
      <c:catAx>
        <c:axId val="6750028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321295"/>
        <c:crosses val="autoZero"/>
        <c:auto val="1"/>
        <c:lblAlgn val="ctr"/>
        <c:lblOffset val="100"/>
        <c:noMultiLvlLbl val="0"/>
      </c:catAx>
      <c:valAx>
        <c:axId val="679321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002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 Field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Trding Comps</c:v>
                </c:pt>
                <c:pt idx="1">
                  <c:v>SOTP</c:v>
                </c:pt>
                <c:pt idx="2">
                  <c:v>Str. Sale</c:v>
                </c:pt>
                <c:pt idx="3">
                  <c:v>Current Price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3C-D546-9A72-3DFEAD8CE4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Trding Comps</c:v>
                </c:pt>
                <c:pt idx="1">
                  <c:v>SOTP</c:v>
                </c:pt>
                <c:pt idx="2">
                  <c:v>Str. Sale</c:v>
                </c:pt>
                <c:pt idx="3">
                  <c:v>Current Price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28</c:v>
                </c:pt>
                <c:pt idx="2">
                  <c:v>30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3C-D546-9A72-3DFEAD8CE4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8018495"/>
        <c:axId val="678159855"/>
      </c:barChart>
      <c:catAx>
        <c:axId val="6780184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8159855"/>
        <c:crosses val="autoZero"/>
        <c:auto val="1"/>
        <c:lblAlgn val="ctr"/>
        <c:lblOffset val="100"/>
        <c:noMultiLvlLbl val="0"/>
      </c:catAx>
      <c:valAx>
        <c:axId val="678159855"/>
        <c:scaling>
          <c:orientation val="minMax"/>
          <c:max val="32"/>
          <c:min val="10"/>
        </c:scaling>
        <c:delete val="0"/>
        <c:axPos val="t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b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801849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CBS</cx:pt>
          <cx:pt idx="1">Paraount</cx:pt>
          <cx:pt idx="2">Content Lib</cx:pt>
          <cx:pt idx="3">DTC</cx:pt>
          <cx:pt idx="4">Corporate Net Debt</cx:pt>
          <cx:pt idx="5">Implied Equity </cx:pt>
          <cx:pt idx="6">Current Market Cap</cx:pt>
        </cx:lvl>
      </cx:strDim>
      <cx:numDim type="val">
        <cx:f>Sheet1!$B$2:$B$9</cx:f>
        <cx:lvl ptCount="8" formatCode="General">
          <cx:pt idx="0">15</cx:pt>
          <cx:pt idx="1">12</cx:pt>
          <cx:pt idx="2">10</cx:pt>
          <cx:pt idx="3">8</cx:pt>
          <cx:pt idx="4">-20</cx:pt>
          <cx:pt idx="5">25</cx:pt>
          <cx:pt idx="6">15</cx:pt>
        </cx:lvl>
      </cx:numDim>
    </cx:data>
  </cx:chartData>
  <cx:chart>
    <cx:title pos="t" align="ctr" overlay="0">
      <cx:tx>
        <cx:txData>
          <cx:v>Sum of the Parts ($bn)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200" b="0" i="0" u="none" strike="noStrike" baseline="0" dirty="0">
              <a:solidFill>
                <a:srgbClr val="000000">
                  <a:lumMod val="65000"/>
                  <a:lumOff val="3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Sum of the Parts ($bn)</a:t>
          </a:r>
        </a:p>
      </cx:txPr>
    </cx:title>
    <cx:plotArea>
      <cx:plotAreaRegion>
        <cx:series layoutId="waterfall" uniqueId="{F54B2DBB-7A64-1742-B46E-437CCF33F8D7}">
          <cx:tx>
            <cx:txData>
              <cx:f>Sheet1!$B$1</cx:f>
              <cx:v>Value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 hidden="1">
        <cx:catScaling gapWidth="3"/>
        <cx:tickLabels/>
      </cx:axis>
      <cx:axis id="1">
        <cx:valScaling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eac69c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eac69c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6eac69c7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6eac69c7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6eac69c7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6eac69c7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6eac69c7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6eac69c7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6eac69c7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6eac69c7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eac69c7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eac69c7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eac69c7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eac69c7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6eac69c7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6eac69c7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eac69c7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eac69c7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6eac69c7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6eac69c7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6eac69c79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6eac69c79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36925" y="388750"/>
            <a:ext cx="8520600" cy="11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Paramount Global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761">
                <a:latin typeface="Times New Roman"/>
                <a:ea typeface="Times New Roman"/>
                <a:cs typeface="Times New Roman"/>
                <a:sym typeface="Times New Roman"/>
              </a:rPr>
              <a:t>A Global Media &amp; Entertainment Platform </a:t>
            </a:r>
            <a:endParaRPr sz="176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74325" y="2295150"/>
            <a:ext cx="8520600" cy="25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Alternative Review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November 2025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Situation Overview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361700" cy="16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54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Times New Roman"/>
              <a:buChar char="●"/>
            </a:pPr>
            <a:r>
              <a:rPr lang="en" sz="12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decline in linear TV advertising and cable subscribers</a:t>
            </a:r>
            <a:br>
              <a:rPr lang="en" sz="12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54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Times New Roman"/>
              <a:buChar char="●"/>
            </a:pPr>
            <a:r>
              <a:rPr lang="en" sz="12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 streaming investment (Paramount +) depressing near-term EBITDA</a:t>
            </a:r>
            <a:br>
              <a:rPr lang="en" sz="12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54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Times New Roman"/>
              <a:buChar char="●"/>
            </a:pPr>
            <a:r>
              <a:rPr lang="en" sz="12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market valuation materially below intrinsic asset value</a:t>
            </a:r>
            <a:br>
              <a:rPr lang="en" sz="12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54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0"/>
              <a:buFont typeface="Times New Roman"/>
              <a:buChar char="●"/>
            </a:pPr>
            <a:r>
              <a:rPr lang="en" sz="12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strategic and asset-monetization paths available</a:t>
            </a:r>
            <a:endParaRPr sz="12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1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65575" y="4165125"/>
            <a:ext cx="72891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Paramount’s current share price fails to reflect the intrinsic value of its content, broadcast, and studio assets.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Company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4119275"/>
            <a:ext cx="8520600" cy="4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Paramount owns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irreplaceable content IP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decades of monetization history.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311700" y="123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{D444B621-9EF6-4920-A267-29054772E280}</a:tableStyleId>
              </a:tblPr>
              <a:tblGrid>
                <a:gridCol w="200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Paramount Global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$30.0 bn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$4.0 bn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Debt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$15.0 bn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Value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$23-24bn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" name="Google Shape;70;p15"/>
          <p:cNvSpPr txBox="1"/>
          <p:nvPr/>
        </p:nvSpPr>
        <p:spPr>
          <a:xfrm>
            <a:off x="4738175" y="1236950"/>
            <a:ext cx="4060200" cy="20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Assets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CBS Broadcast Network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Paramount Pictures &amp; TV Studios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content library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Paramount +  and Pluto TV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Business Segment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3681473"/>
            <a:ext cx="8520600" cy="10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Legacy assets generate the majority of current EBITDA</a:t>
            </a: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Footnote: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revenues are rounded.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7" name="Google Shape;77;p16"/>
          <p:cNvGraphicFramePr/>
          <p:nvPr/>
        </p:nvGraphicFramePr>
        <p:xfrm>
          <a:off x="400425" y="1621050"/>
          <a:ext cx="3605025" cy="1859220"/>
        </p:xfrm>
        <a:graphic>
          <a:graphicData uri="http://schemas.openxmlformats.org/drawingml/2006/table">
            <a:tbl>
              <a:tblPr>
                <a:noFill/>
                <a:tableStyleId>{D444B621-9EF6-4920-A267-29054772E280}</a:tableStyleId>
              </a:tblPr>
              <a:tblGrid>
                <a:gridCol w="12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 (bn)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of Total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TV 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$20.0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 to Customer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$6.0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Filmed Entertainment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$4.0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EDF5CFC-6727-F69F-959B-3077A96811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2434644"/>
              </p:ext>
            </p:extLst>
          </p:nvPr>
        </p:nvGraphicFramePr>
        <p:xfrm>
          <a:off x="4193930" y="940777"/>
          <a:ext cx="4352193" cy="3055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Industry Trends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33900" cy="19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ndustry Trends Impacting Valuation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527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from linear TV to streaming</a:t>
            </a:r>
            <a:b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Advertising dollars moving to digital platforms</a:t>
            </a:r>
            <a:b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scale and IP depth increasingly critical</a:t>
            </a:r>
            <a:b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Near-term earnings pressure during streaming transition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242625" y="4546825"/>
            <a:ext cx="77922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Near-term margin pressure reflects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investment timing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 asset deterioration.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311700" y="3029700"/>
          <a:ext cx="3600000" cy="1114680"/>
        </p:xfrm>
        <a:graphic>
          <a:graphicData uri="http://schemas.openxmlformats.org/drawingml/2006/table">
            <a:tbl>
              <a:tblPr>
                <a:noFill/>
                <a:tableStyleId>{D444B621-9EF6-4920-A267-29054772E280}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 Streaming CAGR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Paramount + Subscriber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 m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BA68D54-BB88-5709-A4CB-C7F934B339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7269450"/>
              </p:ext>
            </p:extLst>
          </p:nvPr>
        </p:nvGraphicFramePr>
        <p:xfrm>
          <a:off x="4352192" y="888023"/>
          <a:ext cx="4413738" cy="3256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Trading Comparables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650" y="3850625"/>
            <a:ext cx="4664796" cy="9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Paramount trades at a </a:t>
            </a: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discount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despite comparable asset quality.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Footnote: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Multiples based on consensus LTM estimates.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3" name="Google Shape;93;p18"/>
          <p:cNvGraphicFramePr/>
          <p:nvPr>
            <p:extLst>
              <p:ext uri="{D42A27DB-BD31-4B8C-83A1-F6EECF244321}">
                <p14:modId xmlns:p14="http://schemas.microsoft.com/office/powerpoint/2010/main" val="2969987107"/>
              </p:ext>
            </p:extLst>
          </p:nvPr>
        </p:nvGraphicFramePr>
        <p:xfrm>
          <a:off x="276713" y="1568150"/>
          <a:ext cx="3565526" cy="1889730"/>
        </p:xfrm>
        <a:graphic>
          <a:graphicData uri="http://schemas.openxmlformats.org/drawingml/2006/table">
            <a:tbl>
              <a:tblPr>
                <a:noFill/>
                <a:tableStyleId>{D444B621-9EF6-4920-A267-29054772E280}</a:tableStyleId>
              </a:tblPr>
              <a:tblGrid>
                <a:gridCol w="1782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 / Company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 / EBITDA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Warner Bros. Discovery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7.0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 Corp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 x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Disney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10.0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Paramount Global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5.5 x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E24FF67-D763-8FE5-A2D6-C6B220D06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822805"/>
              </p:ext>
            </p:extLst>
          </p:nvPr>
        </p:nvGraphicFramePr>
        <p:xfrm>
          <a:off x="4149969" y="923192"/>
          <a:ext cx="4897316" cy="3182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22004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Sum of the Parts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3975320"/>
            <a:ext cx="8520600" cy="948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sum of Paramount’s parts materially exceeds its public market valuation.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Footnote:</a:t>
            </a:r>
            <a:endParaRPr sz="1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Multiples are illustrative and based on comparable asset transactions.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0" name="Google Shape;100;p19"/>
          <p:cNvGraphicFramePr/>
          <p:nvPr>
            <p:extLst>
              <p:ext uri="{D42A27DB-BD31-4B8C-83A1-F6EECF244321}">
                <p14:modId xmlns:p14="http://schemas.microsoft.com/office/powerpoint/2010/main" val="3674732932"/>
              </p:ext>
            </p:extLst>
          </p:nvPr>
        </p:nvGraphicFramePr>
        <p:xfrm>
          <a:off x="311700" y="867270"/>
          <a:ext cx="4076433" cy="3169830"/>
        </p:xfrm>
        <a:graphic>
          <a:graphicData uri="http://schemas.openxmlformats.org/drawingml/2006/table">
            <a:tbl>
              <a:tblPr>
                <a:noFill/>
                <a:tableStyleId>{D444B621-9EF6-4920-A267-29054772E280}</a:tableStyleId>
              </a:tblPr>
              <a:tblGrid>
                <a:gridCol w="1358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Implied EV ($bn)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TV 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6.0 x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Filmed Entertainment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8.0 x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Direct- to- Consumer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 x 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Gross Asset 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Implied Equity 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33.5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76DC0B74-81B4-C2D3-FEEE-7DABFC3C724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76479014"/>
                  </p:ext>
                </p:extLst>
              </p:nvPr>
            </p:nvGraphicFramePr>
            <p:xfrm>
              <a:off x="4651130" y="867270"/>
              <a:ext cx="4492869" cy="316983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76DC0B74-81B4-C2D3-FEEE-7DABFC3C72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1130" y="867270"/>
                <a:ext cx="4492869" cy="316983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Strategic Alternatives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3934050"/>
            <a:ext cx="8520600" cy="6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and the board have </a:t>
            </a:r>
            <a:r>
              <a:rPr lang="en" sz="1235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flexible, executable options</a:t>
            </a:r>
            <a:r>
              <a:rPr lang="en" sz="12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391375" y="1492050"/>
            <a:ext cx="6317700" cy="21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Credible Paths to Unlock Value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company sale to strategic buyer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Break-up / asset divestitures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Joint ventures or partnerships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 monetization of studios or IP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Potential Buyer Universe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3918850"/>
            <a:ext cx="85206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Paramount’s asset quality supports credible transaction feasibility.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517150" y="1768050"/>
            <a:ext cx="2641500" cy="160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Buyers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Comcast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1"/>
          <p:cNvSpPr/>
          <p:nvPr/>
        </p:nvSpPr>
        <p:spPr>
          <a:xfrm>
            <a:off x="4107875" y="1768050"/>
            <a:ext cx="2641500" cy="160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Sponsors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Media-focused PE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/ content funds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Valuation Football Field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3996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price significantly understates intrinsic value.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44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358500" y="1435725"/>
          <a:ext cx="3619500" cy="1905000"/>
        </p:xfrm>
        <a:graphic>
          <a:graphicData uri="http://schemas.openxmlformats.org/drawingml/2006/table">
            <a:tbl>
              <a:tblPr>
                <a:noFill/>
                <a:tableStyleId>{D444B621-9EF6-4920-A267-29054772E280}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Valuation Method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Value / Share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Trading Comps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$28-34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Standalone DCF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Current Price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$12-15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D63F9A3-6BA3-673C-FB41-7400B31D7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59992"/>
              </p:ext>
            </p:extLst>
          </p:nvPr>
        </p:nvGraphicFramePr>
        <p:xfrm>
          <a:off x="4369776" y="1017724"/>
          <a:ext cx="4632710" cy="328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Risks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986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Risks</a:t>
            </a:r>
            <a:endParaRPr sz="4986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7759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losses pressure near-term cash flow</a:t>
            </a:r>
            <a:b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9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77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decline in linear TV</a:t>
            </a:r>
            <a:b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9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77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risk in asset sales</a:t>
            </a:r>
            <a:b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9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77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pressure from large tech platforms</a:t>
            </a:r>
            <a:b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9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986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Mitigants</a:t>
            </a:r>
            <a:endParaRPr sz="4986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7759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content library and brand equity</a:t>
            </a:r>
            <a:b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9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77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Broadcast scale and sports rights</a:t>
            </a:r>
            <a:b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9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77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monetization options</a:t>
            </a:r>
            <a:b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9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77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9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buyer interest</a:t>
            </a:r>
            <a:endParaRPr sz="498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359700" y="1152600"/>
            <a:ext cx="8520600" cy="27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400"/>
              </a:spcBef>
              <a:buClr>
                <a:schemeClr val="dk1"/>
              </a:buClr>
              <a:buSzPts val="11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and the Board should actively evaluate strategic alternatives, including a potential sale, asset divestitures, or recapitalization, to address the disconnect between public valuation and intrinsic asset value while preserving flexibility amid ongoing industry consolidation.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sz="1395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311700" y="4318850"/>
            <a:ext cx="8288400" cy="2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Paramount should proactively pursue strategic alternatives to unlock shareholder value.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560</Words>
  <Application>Microsoft Macintosh PowerPoint</Application>
  <PresentationFormat>On-screen Show (16:9)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Paramount Global A Global Media &amp; Entertainment Platform </vt:lpstr>
      <vt:lpstr>Situation Overview </vt:lpstr>
      <vt:lpstr>Company Overview</vt:lpstr>
      <vt:lpstr>Business Segment </vt:lpstr>
      <vt:lpstr>Industry Trends</vt:lpstr>
      <vt:lpstr>Trading Comparables</vt:lpstr>
      <vt:lpstr>Sum of the Parts</vt:lpstr>
      <vt:lpstr>Strategic Alternatives</vt:lpstr>
      <vt:lpstr>Potential Buyer Universe</vt:lpstr>
      <vt:lpstr>Valuation Football Field </vt:lpstr>
      <vt:lpstr>Risks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3</cp:revision>
  <dcterms:modified xsi:type="dcterms:W3CDTF">2026-02-03T18:53:32Z</dcterms:modified>
</cp:coreProperties>
</file>