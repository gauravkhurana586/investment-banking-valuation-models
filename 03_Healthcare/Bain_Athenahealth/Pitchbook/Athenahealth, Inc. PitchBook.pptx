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CA8720-AD57-486C-9A97-F9B603B3C579}">
  <a:tblStyle styleId="{E8CA8720-AD57-486C-9A97-F9B603B3C5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53"/>
  </p:normalViewPr>
  <p:slideViewPr>
    <p:cSldViewPr snapToGrid="0">
      <p:cViewPr varScale="1">
        <p:scale>
          <a:sx n="146" d="100"/>
          <a:sy n="146" d="100"/>
        </p:scale>
        <p:origin x="432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spPr>
            <a:solidFill>
              <a:schemeClr val="accent4"/>
            </a:solidFill>
          </c:spPr>
          <c:dPt>
            <c:idx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B83-714A-8537-BD040D6A55BB}"/>
              </c:ext>
            </c:extLst>
          </c:dPt>
          <c:dPt>
            <c:idx val="1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83-714A-8537-BD040D6A55B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41-6B4B-93F4-2CD327706400}"/>
              </c:ext>
            </c:extLst>
          </c:dPt>
          <c:cat>
            <c:strRef>
              <c:f>Sheet1!$A$2:$A$4</c:f>
              <c:strCache>
                <c:ptCount val="3"/>
                <c:pt idx="0">
                  <c:v>HER</c:v>
                </c:pt>
                <c:pt idx="1">
                  <c:v>RCM</c:v>
                </c:pt>
                <c:pt idx="2">
                  <c:v>Patient Engagement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83-714A-8537-BD040D6A55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Term Loan B</c:v>
                </c:pt>
                <c:pt idx="1">
                  <c:v>Subordianted Debt</c:v>
                </c:pt>
                <c:pt idx="2">
                  <c:v>Bain Equity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6000</c:v>
                </c:pt>
                <c:pt idx="1">
                  <c:v>3500</c:v>
                </c:pt>
                <c:pt idx="2">
                  <c:v>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06-4047-BFF6-DD2D431DD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58534463"/>
        <c:axId val="258786191"/>
      </c:barChart>
      <c:catAx>
        <c:axId val="2585344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786191"/>
        <c:crosses val="autoZero"/>
        <c:auto val="1"/>
        <c:lblAlgn val="ctr"/>
        <c:lblOffset val="100"/>
        <c:noMultiLvlLbl val="0"/>
      </c:catAx>
      <c:valAx>
        <c:axId val="258786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8534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LTM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710</c:v>
                </c:pt>
                <c:pt idx="1">
                  <c:v>772</c:v>
                </c:pt>
                <c:pt idx="2">
                  <c:v>857</c:v>
                </c:pt>
                <c:pt idx="3">
                  <c:v>954</c:v>
                </c:pt>
                <c:pt idx="4">
                  <c:v>1040</c:v>
                </c:pt>
                <c:pt idx="5">
                  <c:v>1122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EC-424B-ACD8-71EC0C048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453839"/>
        <c:axId val="256222495"/>
      </c:lineChart>
      <c:catAx>
        <c:axId val="256453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222495"/>
        <c:crosses val="autoZero"/>
        <c:auto val="1"/>
        <c:lblAlgn val="ctr"/>
        <c:lblOffset val="100"/>
        <c:noMultiLvlLbl val="0"/>
      </c:catAx>
      <c:valAx>
        <c:axId val="256222495"/>
        <c:scaling>
          <c:orientation val="minMax"/>
          <c:min val="5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6453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Debt</a:t>
            </a:r>
            <a:r>
              <a:rPr lang="en-US" sz="12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EBITDA (x)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Leverage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 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13.4</c:v>
                </c:pt>
                <c:pt idx="1">
                  <c:v>11.8</c:v>
                </c:pt>
                <c:pt idx="2">
                  <c:v>9.9</c:v>
                </c:pt>
                <c:pt idx="3">
                  <c:v>7.6</c:v>
                </c:pt>
                <c:pt idx="4">
                  <c:v>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8E-AF49-98BB-9353ADD9B2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 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8E-AF49-98BB-9353ADD9B2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Entry</c:v>
                </c:pt>
                <c:pt idx="1">
                  <c:v>Year 1 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B8E-AF49-98BB-9353ADD9B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3855807"/>
        <c:axId val="264237999"/>
      </c:lineChart>
      <c:catAx>
        <c:axId val="26385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4237999"/>
        <c:crosses val="autoZero"/>
        <c:auto val="1"/>
        <c:lblAlgn val="ctr"/>
        <c:lblOffset val="100"/>
        <c:noMultiLvlLbl val="0"/>
      </c:catAx>
      <c:valAx>
        <c:axId val="264237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855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Entry Equity</cx:pt>
          <cx:pt idx="1">EBITDA </cx:pt>
          <cx:pt idx="2">Debt Pay</cx:pt>
          <cx:pt idx="3">Exit Multiple</cx:pt>
          <cx:pt idx="4">Exit Equity</cx:pt>
        </cx:lvl>
      </cx:strDim>
      <cx:numDim type="val">
        <cx:f>Sheet1!$B$2:$B$9</cx:f>
        <cx:lvl ptCount="8" formatCode="General">
          <cx:pt idx="0">7500</cx:pt>
          <cx:pt idx="1">8500</cx:pt>
          <cx:pt idx="2">5400</cx:pt>
          <cx:pt idx="3">0</cx:pt>
          <cx:pt idx="4">21400</cx:pt>
        </cx:lvl>
      </cx:numDim>
    </cx:data>
  </cx:chartData>
  <cx:chart>
    <cx:title pos="t" align="ctr" overlay="0">
      <cx:tx>
        <cx:txData>
          <cx:v>Value Creation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200" b="0" i="0" u="none" strike="noStrike" baseline="0" dirty="0">
              <a:solidFill>
                <a:srgbClr val="000000">
                  <a:lumMod val="65000"/>
                  <a:lumOff val="35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Value Creation</a:t>
          </a:r>
        </a:p>
      </cx:txPr>
    </cx:title>
    <cx:plotArea>
      <cx:plotAreaRegion>
        <cx:series layoutId="waterfall" uniqueId="{51060053-1ECF-5147-8183-2200561A1888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696bc46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696bc460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af19e17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af19e17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6af19e17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6af19e17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af19e17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af19e17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af19e17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6af19e17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af19e17a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af19e17a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6af19e17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6af19e17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6af19e17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6af19e17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af19e17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af19e17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af19e17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6af19e17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af19e17a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6af19e17a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48500" y="931775"/>
            <a:ext cx="8520600" cy="10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Athenahealth, Inc.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5">
                <a:latin typeface="Times New Roman"/>
                <a:ea typeface="Times New Roman"/>
                <a:cs typeface="Times New Roman"/>
                <a:sym typeface="Times New Roman"/>
              </a:rPr>
              <a:t>Leading cloud Based Healthcare IT Platform</a:t>
            </a:r>
            <a:endParaRPr sz="175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54000"/>
            <a:ext cx="8520600" cy="13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Acquisitions by Bain Capital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Confidentials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Dated- November 2025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6775" y="4613250"/>
            <a:ext cx="6469200" cy="2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for discussion purposes only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Transaction Overview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24199" y="1238250"/>
            <a:ext cx="7137186" cy="1795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607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Times New Roman"/>
              <a:buChar char="●"/>
            </a:pPr>
            <a: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EHR, RCM, and patient engagement software</a:t>
            </a:r>
            <a:b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607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Times New Roman"/>
              <a:buChar char="●"/>
            </a:pPr>
            <a: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in provider workflows → high switching costs</a:t>
            </a:r>
            <a:b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607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0"/>
              <a:buFont typeface="Times New Roman"/>
              <a:buChar char="●"/>
            </a:pPr>
            <a:r>
              <a:rPr lang="en" sz="1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Subscription-based revenue model</a:t>
            </a:r>
            <a:endParaRPr sz="12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0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24200" y="3976925"/>
            <a:ext cx="4719300" cy="8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160,000 providers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platform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Avg. revenue per provider: </a:t>
            </a:r>
            <a: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$11,400</a:t>
            </a:r>
            <a:br>
              <a:rPr lang="en" sz="1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retention and predictable cash flows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Business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5231550" y="4160275"/>
            <a:ext cx="3365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Split: EHR, RCM, Patient Engagement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311700" y="1344950"/>
          <a:ext cx="3619500" cy="278883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Athenahealth Revenue Split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EHR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RCM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Patient Engagement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Customers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Hospitals, Practices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Net Number of Consumers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160000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1" name="Google Shape;71;p15"/>
          <p:cNvSpPr txBox="1"/>
          <p:nvPr/>
        </p:nvSpPr>
        <p:spPr>
          <a:xfrm>
            <a:off x="278375" y="4527075"/>
            <a:ext cx="75231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mix illustrative and based on public disclosures and management estimates.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Healthcare IT Market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49075" y="1138475"/>
            <a:ext cx="2930456" cy="24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Ongoing digitalization of healthcare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push for EHR adoption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from on-premise to cloud solutions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demand for data analytics and interoperability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9075" y="4487300"/>
            <a:ext cx="63234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growth sourced from third-party healthcare IT market studies.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A8EE7D0-7432-797A-EE01-F147CBD34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779716"/>
              </p:ext>
            </p:extLst>
          </p:nvPr>
        </p:nvGraphicFramePr>
        <p:xfrm>
          <a:off x="3640014" y="539750"/>
          <a:ext cx="4994031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Investment Thesis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4094250"/>
            <a:ext cx="8520600" cy="3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Margin expansion assumes no major restructuring.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50725" y="1166575"/>
            <a:ext cx="4434300" cy="25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Value Creation Levers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Recurring Revenue Stability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Predictable cash flows support leverage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Growth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6–7% CAGR driven by provider adds and ARPU expansion</a:t>
            </a:r>
            <a:b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Margin Expansion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EBITDA margin expands from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39% → 45%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FCF-Driven Deleveraging</a:t>
            </a:r>
            <a:b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Net leverage reduced from </a:t>
            </a:r>
            <a:r>
              <a:rPr lang="en" sz="1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13.4x → 4.9x</a:t>
            </a:r>
            <a:endParaRPr sz="1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Sources and Uses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4101600"/>
            <a:ext cx="85206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 and Uses Shows how the acquisition is funded and confirms that the LBO structure is realistic.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8"/>
          <p:cNvGraphicFramePr/>
          <p:nvPr/>
        </p:nvGraphicFramePr>
        <p:xfrm>
          <a:off x="382475" y="11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 Equity Value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16400</a:t>
                      </a:r>
                      <a:endParaRPr sz="120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Transaction Fees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Uses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17000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3" name="Google Shape;93;p18"/>
          <p:cNvGraphicFramePr/>
          <p:nvPr/>
        </p:nvGraphicFramePr>
        <p:xfrm>
          <a:off x="4572000" y="11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82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 Loan B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Subordinate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Bain 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Sources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17000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Capital Structure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4108925"/>
            <a:ext cx="8520600" cy="4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Interest rates: Term Loan ~8%, Sub Debt ~10%.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375850" y="1393125"/>
          <a:ext cx="3308500" cy="152400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65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Debt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$9.5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Equity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$7.5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Debt / EV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6C4DE35-C0AD-8E2D-0FE3-D15990EB90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8775606"/>
              </p:ext>
            </p:extLst>
          </p:nvPr>
        </p:nvGraphicFramePr>
        <p:xfrm>
          <a:off x="3897086" y="539750"/>
          <a:ext cx="4767942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Operating Projections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4490475"/>
            <a:ext cx="8520600" cy="51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20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Projections reflect Bain operating plan.</a:t>
            </a:r>
            <a:endParaRPr sz="120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6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7" name="Google Shape;107;p20"/>
          <p:cNvGraphicFramePr/>
          <p:nvPr>
            <p:extLst>
              <p:ext uri="{D42A27DB-BD31-4B8C-83A1-F6EECF244321}">
                <p14:modId xmlns:p14="http://schemas.microsoft.com/office/powerpoint/2010/main" val="1947175988"/>
              </p:ext>
            </p:extLst>
          </p:nvPr>
        </p:nvGraphicFramePr>
        <p:xfrm>
          <a:off x="422225" y="1080625"/>
          <a:ext cx="3619500" cy="2707604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6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$1.82-$2.49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$710mm-$1.12bn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90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EBITDA Margin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39%-45%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3E48B1-CC5D-2C91-585F-76D09D9564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8749020"/>
              </p:ext>
            </p:extLst>
          </p:nvPr>
        </p:nvGraphicFramePr>
        <p:xfrm>
          <a:off x="4147456" y="539750"/>
          <a:ext cx="4574319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Debt Repayment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4370275"/>
            <a:ext cx="8520600" cy="4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Assumes 100% excess cash sweep to senior debt.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/>
        </p:nvSpPr>
        <p:spPr>
          <a:xfrm flipH="1">
            <a:off x="357925" y="1138175"/>
            <a:ext cx="3466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Strong FCF enables rapid senior debt paydown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Net leverage reduced to </a:t>
            </a:r>
            <a:r>
              <a:rPr lang="en" sz="1100" b="1">
                <a:solidFill>
                  <a:schemeClr val="dk1"/>
                </a:solidFill>
              </a:rPr>
              <a:t>&lt;5.0x by exit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236251E-1444-407C-E93C-7109B4490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083427"/>
              </p:ext>
            </p:extLst>
          </p:nvPr>
        </p:nvGraphicFramePr>
        <p:xfrm>
          <a:off x="3965330" y="539750"/>
          <a:ext cx="4484077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Exit &amp; Returns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311700" y="4374775"/>
            <a:ext cx="85206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lang="en" sz="12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 multiple below entry; no multiple expansion assumed.</a:t>
            </a:r>
            <a:endParaRPr sz="12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endParaRPr sz="3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1" name="Google Shape;121;p22"/>
          <p:cNvGraphicFramePr/>
          <p:nvPr/>
        </p:nvGraphicFramePr>
        <p:xfrm>
          <a:off x="349350" y="1208300"/>
          <a:ext cx="3447200" cy="182865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72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EBITDA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$1.12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24.0 x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EV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$26.9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Equity Value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$21.4 bn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2" name="Google Shape;122;p22"/>
          <p:cNvGraphicFramePr/>
          <p:nvPr/>
        </p:nvGraphicFramePr>
        <p:xfrm>
          <a:off x="349350" y="3070825"/>
          <a:ext cx="3447200" cy="114300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72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Values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2.9 x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193EB324-D823-6562-B59C-AF23CF05841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92798233"/>
                  </p:ext>
                </p:extLst>
              </p:nvPr>
            </p:nvGraphicFramePr>
            <p:xfrm>
              <a:off x="4267200" y="925286"/>
              <a:ext cx="4527450" cy="328853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193EB324-D823-6562-B59C-AF23CF0584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7200" y="925286"/>
                <a:ext cx="4527450" cy="328853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203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Sensitivities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565000" y="4364800"/>
            <a:ext cx="6508200" cy="4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Assumptions Held Constant.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565000" y="1707075"/>
          <a:ext cx="7794300" cy="731460"/>
        </p:xfrm>
        <a:graphic>
          <a:graphicData uri="http://schemas.openxmlformats.org/drawingml/2006/table">
            <a:tbl>
              <a:tblPr>
                <a:noFill/>
                <a:tableStyleId>{E8CA8720-AD57-486C-9A97-F9B603B3C579}</a:tableStyleId>
              </a:tblPr>
              <a:tblGrid>
                <a:gridCol w="129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Exit Multiples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26.0 x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32%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Defensive growth profile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high retention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operational upside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margins and efficiency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free cash flow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supports deleveraging</a:t>
            </a:r>
            <a:b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exit pathways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(IPO, strategic, secondary PE)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4"/>
          <p:cNvSpPr txBox="1"/>
          <p:nvPr/>
        </p:nvSpPr>
        <p:spPr>
          <a:xfrm>
            <a:off x="556775" y="4421025"/>
            <a:ext cx="60051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based on base-case underwriting.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Macintosh PowerPoint</Application>
  <PresentationFormat>On-screen Show (16:9)</PresentationFormat>
  <Paragraphs>130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Athenahealth, Inc. Leading cloud Based Healthcare IT Platform</vt:lpstr>
      <vt:lpstr>Transaction Overview </vt:lpstr>
      <vt:lpstr>Business Overview</vt:lpstr>
      <vt:lpstr>Healthcare IT Market</vt:lpstr>
      <vt:lpstr>Investment Thesis</vt:lpstr>
      <vt:lpstr>Sources and Uses </vt:lpstr>
      <vt:lpstr>Capital Structure </vt:lpstr>
      <vt:lpstr>Operating Projections</vt:lpstr>
      <vt:lpstr>Debt Repayment </vt:lpstr>
      <vt:lpstr>Exit &amp; Returns</vt:lpstr>
      <vt:lpstr>Sensitivities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Gaurav</cp:lastModifiedBy>
  <cp:revision>2</cp:revision>
  <dcterms:modified xsi:type="dcterms:W3CDTF">2026-01-29T22:37:33Z</dcterms:modified>
</cp:coreProperties>
</file>