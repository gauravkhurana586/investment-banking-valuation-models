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B2EC4E-B419-4B96-954D-182BD89A616E}">
  <a:tblStyle styleId="{DEB2EC4E-B419-4B96-954D-182BD89A61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595"/>
  </p:normalViewPr>
  <p:slideViewPr>
    <p:cSldViewPr snapToGrid="0">
      <p:cViewPr varScale="1">
        <p:scale>
          <a:sx n="74" d="100"/>
          <a:sy n="74" d="100"/>
        </p:scale>
        <p:origin x="192" y="13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EBITDA</a:t>
            </a:r>
            <a:r>
              <a:rPr lang="en-US" dirty="0"/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Wireless</c:v>
                </c:pt>
                <c:pt idx="1">
                  <c:v>Wireline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5E-8D4F-B7A5-5657AFD85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1997647"/>
        <c:axId val="931999359"/>
      </c:barChart>
      <c:catAx>
        <c:axId val="9319976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999359"/>
        <c:crosses val="autoZero"/>
        <c:auto val="1"/>
        <c:lblAlgn val="ctr"/>
        <c:lblOffset val="100"/>
        <c:noMultiLvlLbl val="0"/>
      </c:catAx>
      <c:valAx>
        <c:axId val="931999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997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Cash Flow ($bn)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 ($bn)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17</c:v>
                </c:pt>
                <c:pt idx="2">
                  <c:v>18</c:v>
                </c:pt>
                <c:pt idx="3">
                  <c:v>19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D5-9745-84EE-F6816FF0E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4640511"/>
        <c:axId val="801812879"/>
      </c:barChart>
      <c:catAx>
        <c:axId val="934640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1812879"/>
        <c:crosses val="autoZero"/>
        <c:auto val="1"/>
        <c:lblAlgn val="ctr"/>
        <c:lblOffset val="100"/>
        <c:noMultiLvlLbl val="0"/>
      </c:catAx>
      <c:valAx>
        <c:axId val="80181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4640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Summary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DCF Value</c:v>
                </c:pt>
                <c:pt idx="1">
                  <c:v>Current Price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F-FA4C-A9BE-BFEFB438BA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DCF Value</c:v>
                </c:pt>
                <c:pt idx="1">
                  <c:v>Current Price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0F-FA4C-A9BE-BFEFB438B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17229631"/>
        <c:axId val="919832223"/>
      </c:barChart>
      <c:catAx>
        <c:axId val="917229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9832223"/>
        <c:crosses val="autoZero"/>
        <c:auto val="1"/>
        <c:lblAlgn val="ctr"/>
        <c:lblOffset val="100"/>
        <c:noMultiLvlLbl val="0"/>
      </c:catAx>
      <c:valAx>
        <c:axId val="9198322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7229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Debt / EBITDA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Debt / EBITDA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2.9</c:v>
                </c:pt>
                <c:pt idx="2">
                  <c:v>2.7</c:v>
                </c:pt>
                <c:pt idx="3">
                  <c:v>2.6</c:v>
                </c:pt>
                <c:pt idx="4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8D-0647-9F4B-A029A2B341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40894527"/>
        <c:axId val="940896239"/>
      </c:lineChart>
      <c:catAx>
        <c:axId val="940894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896239"/>
        <c:crosses val="autoZero"/>
        <c:auto val="1"/>
        <c:lblAlgn val="ctr"/>
        <c:lblOffset val="100"/>
        <c:noMultiLvlLbl val="0"/>
      </c:catAx>
      <c:valAx>
        <c:axId val="9408962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0894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2e27a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e2e27a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e2e27a1a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e2e27a1a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2e27a1a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2e27a1a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e2e27a1a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e2e27a1a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e2e27a1a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e2e27a1a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2e27a1a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e2e27a1a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2e27a1a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e2e27a1a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2e27a1a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e2e27a1a4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2e27a1a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e2e27a1a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04525"/>
            <a:ext cx="8520600" cy="13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Verizon Communication Inc.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Valuation &amp; Strategic Overview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33"/>
              <a:buFont typeface="Arial"/>
              <a:buNone/>
            </a:pPr>
            <a:r>
              <a:rPr lang="en" sz="313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&amp; Broadband Telecom</a:t>
            </a:r>
            <a:endParaRPr sz="31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November 2025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47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Company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3996175"/>
            <a:ext cx="8520600" cy="9046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indent="0">
              <a:lnSpc>
                <a:spcPct val="95000"/>
              </a:lnSpc>
              <a:spcBef>
                <a:spcPts val="1200"/>
              </a:spcBef>
              <a:buClr>
                <a:schemeClr val="dk1"/>
              </a:buClr>
              <a:buSzPts val="605"/>
              <a:buNone/>
            </a:pPr>
            <a:r>
              <a:rPr lang="en-US" sz="12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$18–20bn annual free cash flow generation</a:t>
            </a:r>
            <a:endParaRPr lang="en" sz="1205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-US" sz="1205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Verizon is a scale-driven, cash-generative telecom franchise with predictable free cash flow and limited </a:t>
            </a:r>
            <a:r>
              <a:rPr lang="en-US" sz="1205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competitive disruption.</a:t>
            </a:r>
            <a:endParaRPr sz="989" b="1" dirty="0"/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421400" y="1077525"/>
          <a:ext cx="7239000" cy="2667000"/>
        </p:xfrm>
        <a:graphic>
          <a:graphicData uri="http://schemas.openxmlformats.org/drawingml/2006/table">
            <a:tbl>
              <a:tblPr>
                <a:noFill/>
                <a:tableStyleId>{DEB2EC4E-B419-4B96-954D-182BD89A616E}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Headquarter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 York, NY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Business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Wireless &amp; Broadband Telecom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Wireless Subscriber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$115 m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$135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LTM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$74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$150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Segments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4158125"/>
            <a:ext cx="8520600" cy="4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drives profitability </a:t>
            </a:r>
            <a:r>
              <a:rPr lang="en-US" sz="12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(~85% of EBITDA); </a:t>
            </a:r>
            <a:r>
              <a:rPr lang="en-US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wireline provides stability.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450" dirty="0"/>
          </a:p>
        </p:txBody>
      </p:sp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4197011184"/>
              </p:ext>
            </p:extLst>
          </p:nvPr>
        </p:nvGraphicFramePr>
        <p:xfrm>
          <a:off x="311700" y="1577325"/>
          <a:ext cx="4845837" cy="1905000"/>
        </p:xfrm>
        <a:graphic>
          <a:graphicData uri="http://schemas.openxmlformats.org/drawingml/2006/table">
            <a:tbl>
              <a:tblPr>
                <a:noFill/>
                <a:tableStyleId>{DEB2EC4E-B419-4B96-954D-182BD89A616E}</a:tableStyleId>
              </a:tblPr>
              <a:tblGrid>
                <a:gridCol w="1615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of Total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Wireless Services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Wireline / Broadband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Equipement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58E4ED8-7E2F-A4ED-D74E-32EE23185E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311310"/>
              </p:ext>
            </p:extLst>
          </p:nvPr>
        </p:nvGraphicFramePr>
        <p:xfrm>
          <a:off x="5253788" y="1371600"/>
          <a:ext cx="3312696" cy="2582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Industry Context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8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Wireless Market Characteristics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Oligopolistic U.S. wireless market (Verizon, AT&amp;T, T-Mobile)</a:t>
            </a: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barriers to entry (spectrum, infrastructure, scale)</a:t>
            </a:r>
          </a:p>
          <a:p>
            <a:pPr marL="171450" indent="-17145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discipline overgrowth-at-any-cost</a:t>
            </a: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530" dirty="0"/>
          </a:p>
        </p:txBody>
      </p:sp>
      <p:sp>
        <p:nvSpPr>
          <p:cNvPr id="76" name="Google Shape;76;p16"/>
          <p:cNvSpPr txBox="1"/>
          <p:nvPr/>
        </p:nvSpPr>
        <p:spPr>
          <a:xfrm>
            <a:off x="377375" y="4367775"/>
            <a:ext cx="7547400" cy="4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 is a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+ pricing discipline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business, not a growth-at-any-cost sector.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Historical Financing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3996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Cash flow stability underpins valuation.</a:t>
            </a:r>
          </a:p>
          <a:p>
            <a:pPr marL="0" marR="381000" indent="0">
              <a:spcBef>
                <a:spcPts val="1200"/>
              </a:spcBef>
              <a:buClr>
                <a:schemeClr val="dk1"/>
              </a:buClr>
              <a:buSzPts val="440"/>
              <a:buNone/>
            </a:pPr>
            <a:r>
              <a:rPr lang="en-US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Cash Flow (last 4–5 years)</a:t>
            </a:r>
            <a:endParaRPr sz="12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endParaRPr sz="720" dirty="0"/>
          </a:p>
        </p:txBody>
      </p:sp>
      <p:graphicFrame>
        <p:nvGraphicFramePr>
          <p:cNvPr id="83" name="Google Shape;83;p17"/>
          <p:cNvGraphicFramePr/>
          <p:nvPr>
            <p:extLst>
              <p:ext uri="{D42A27DB-BD31-4B8C-83A1-F6EECF244321}">
                <p14:modId xmlns:p14="http://schemas.microsoft.com/office/powerpoint/2010/main" val="3227904384"/>
              </p:ext>
            </p:extLst>
          </p:nvPr>
        </p:nvGraphicFramePr>
        <p:xfrm>
          <a:off x="311700" y="1514425"/>
          <a:ext cx="4589164" cy="2240220"/>
        </p:xfrm>
        <a:graphic>
          <a:graphicData uri="http://schemas.openxmlformats.org/drawingml/2006/table">
            <a:tbl>
              <a:tblPr>
                <a:noFill/>
                <a:tableStyleId>{DEB2EC4E-B419-4B96-954D-182BD89A616E}</a:tableStyleId>
              </a:tblPr>
              <a:tblGrid>
                <a:gridCol w="114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Cash Flow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4DC8B51-ADA5-0643-2990-9477BB2F7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615562"/>
              </p:ext>
            </p:extLst>
          </p:nvPr>
        </p:nvGraphicFramePr>
        <p:xfrm>
          <a:off x="5029200" y="1514424"/>
          <a:ext cx="3737811" cy="2343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1832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DCF Valuation	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0" name="Google Shape;90;p18"/>
          <p:cNvGraphicFramePr/>
          <p:nvPr>
            <p:extLst>
              <p:ext uri="{D42A27DB-BD31-4B8C-83A1-F6EECF244321}">
                <p14:modId xmlns:p14="http://schemas.microsoft.com/office/powerpoint/2010/main" val="2680686943"/>
              </p:ext>
            </p:extLst>
          </p:nvPr>
        </p:nvGraphicFramePr>
        <p:xfrm>
          <a:off x="311700" y="755962"/>
          <a:ext cx="2886518" cy="2560140"/>
        </p:xfrm>
        <a:graphic>
          <a:graphicData uri="http://schemas.openxmlformats.org/drawingml/2006/table">
            <a:tbl>
              <a:tblPr>
                <a:noFill/>
                <a:tableStyleId>{DEB2EC4E-B419-4B96-954D-182BD89A616E}</a:tableStyleId>
              </a:tblPr>
              <a:tblGrid>
                <a:gridCol w="1443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9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 ($bn)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Enterprise Value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9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debt</a:t>
                      </a:r>
                      <a:endParaRPr sz="12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1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Shares Outstanding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Implied Share Price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$36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8"/>
          <p:cNvSpPr txBox="1"/>
          <p:nvPr/>
        </p:nvSpPr>
        <p:spPr>
          <a:xfrm>
            <a:off x="40105" y="3394432"/>
            <a:ext cx="8221579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Standalone DCF — Base Case</a:t>
            </a:r>
          </a:p>
          <a:p>
            <a:pPr lvl="0"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Assumptions: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growth: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~1.5% CAGR,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EBITDA margin: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~35–36%,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Capex: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~14–15% of revenue,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WACC: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~7.0%</a:t>
            </a:r>
            <a:b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Terminal growth: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~1.5%.</a:t>
            </a:r>
          </a:p>
          <a:p>
            <a:pPr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DCF supports valuation within a </a:t>
            </a:r>
            <a:r>
              <a:rPr lang="en-US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defensible range above recent trading levels.</a:t>
            </a:r>
            <a:b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DCF excludes strategic M&amp;A synergies.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74D602B-E5D4-06EC-1737-E4188CD835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5948030"/>
              </p:ext>
            </p:extLst>
          </p:nvPr>
        </p:nvGraphicFramePr>
        <p:xfrm>
          <a:off x="4315325" y="680841"/>
          <a:ext cx="4074695" cy="2635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Valuation Summary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4109200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Downside is protected by cash flow; upside driven by deleveraging.</a:t>
            </a:r>
            <a:endParaRPr sz="12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450"/>
          </a:p>
        </p:txBody>
      </p:sp>
      <p:graphicFrame>
        <p:nvGraphicFramePr>
          <p:cNvPr id="98" name="Google Shape;98;p19"/>
          <p:cNvGraphicFramePr/>
          <p:nvPr/>
        </p:nvGraphicFramePr>
        <p:xfrm>
          <a:off x="358475" y="1509250"/>
          <a:ext cx="3591050" cy="1524000"/>
        </p:xfrm>
        <a:graphic>
          <a:graphicData uri="http://schemas.openxmlformats.org/drawingml/2006/table">
            <a:tbl>
              <a:tblPr>
                <a:noFill/>
                <a:tableStyleId>{DEB2EC4E-B419-4B96-954D-182BD89A616E}</a:tableStyleId>
              </a:tblPr>
              <a:tblGrid>
                <a:gridCol w="17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 Value / Share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Trading Comps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$32-34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DCF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Price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$30-32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Capital Allocation &amp; Deleveraging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67625" y="1334175"/>
            <a:ext cx="3308400" cy="21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Sheet Priorities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indent="-1714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leverage toward ~2.5x net debt / EBITDA</a:t>
            </a:r>
          </a:p>
          <a:p>
            <a:pPr marL="171450" indent="-1714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dividend (~$11bn annually)</a:t>
            </a:r>
          </a:p>
          <a:p>
            <a:pPr marL="171450" indent="-1714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Disciplined capex post-5G buildout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3914345"/>
            <a:ext cx="70863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Debt / EBITDA trend line</a:t>
            </a: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~3.1x → ~2.5x</a:t>
            </a: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cash flow increasingly available for balance sheet repair.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E64C38-2E51-0F41-8B48-A0118E1C04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994682"/>
              </p:ext>
            </p:extLst>
          </p:nvPr>
        </p:nvGraphicFramePr>
        <p:xfrm>
          <a:off x="4572000" y="1229155"/>
          <a:ext cx="4058653" cy="2815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Risks &amp; Mitigants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371800" cy="19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pricing pressure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Spectrum auction costs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leverage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4416725" y="1152475"/>
            <a:ext cx="2739600" cy="20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Mitigants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Oligopolistic market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subscriber base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Predictable FCF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investment-grade profile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Investment 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9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rPr lang="en-US" sz="12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Defensive value with visible deleveraging-driven upside</a:t>
            </a:r>
          </a:p>
          <a:p>
            <a:pPr marL="457200" lvl="0" indent="-296068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 cash flows</a:t>
            </a:r>
            <a:b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60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dividend yield</a:t>
            </a:r>
            <a:b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60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downside risk</a:t>
            </a:r>
            <a:b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9606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2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Valuation supported by DCF</a:t>
            </a:r>
            <a:endParaRPr sz="12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19" name="Google Shape;119;p22"/>
          <p:cNvSpPr txBox="1"/>
          <p:nvPr/>
        </p:nvSpPr>
        <p:spPr>
          <a:xfrm>
            <a:off x="265550" y="4200050"/>
            <a:ext cx="7875900" cy="4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Verizon represents a defensive, cash-generative telecom investment with valuation support and gradual upside from deleveraging.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474</Words>
  <Application>Microsoft Macintosh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Simple Light</vt:lpstr>
      <vt:lpstr>Verizon Communication Inc.  Valuation &amp; Strategic Overview</vt:lpstr>
      <vt:lpstr>Company Overview</vt:lpstr>
      <vt:lpstr>Business Segments</vt:lpstr>
      <vt:lpstr>Industry Context</vt:lpstr>
      <vt:lpstr>Historical Financing Performance</vt:lpstr>
      <vt:lpstr>DCF Valuation </vt:lpstr>
      <vt:lpstr>Valuation Summary </vt:lpstr>
      <vt:lpstr>Capital Allocation &amp; Deleveraging</vt:lpstr>
      <vt:lpstr>Key Risks &amp; Mitigants</vt:lpstr>
      <vt:lpstr>Investment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3</cp:revision>
  <dcterms:modified xsi:type="dcterms:W3CDTF">2026-01-29T22:33:13Z</dcterms:modified>
</cp:coreProperties>
</file>