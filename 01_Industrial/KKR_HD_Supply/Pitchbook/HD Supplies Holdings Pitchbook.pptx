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C37ADB-3C4D-42E5-B712-06D5EB9988BE}">
  <a:tblStyle styleId="{C4C37ADB-3C4D-42E5-B712-06D5EB9988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45"/>
  </p:normalViewPr>
  <p:slideViewPr>
    <p:cSldViewPr snapToGrid="0">
      <p:cViewPr varScale="1">
        <p:scale>
          <a:sx n="145" d="100"/>
          <a:sy n="145" d="100"/>
        </p:scale>
        <p:origin x="47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Mix By %</a:t>
            </a:r>
          </a:p>
        </c:rich>
      </c:tx>
      <c:layout>
        <c:manualLayout>
          <c:xMode val="edge"/>
          <c:yMode val="edge"/>
          <c:x val="0.38216333342148245"/>
          <c:y val="9.06249999999999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7C9-254B-BE5D-697C9435FB2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7C9-254B-BE5D-697C9435FB2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7C9-254B-BE5D-697C9435FB2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7C9-254B-BE5D-697C9435FB2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Multifamily Housing</c:v>
                </c:pt>
                <c:pt idx="1">
                  <c:v>Hospitality</c:v>
                </c:pt>
                <c:pt idx="2">
                  <c:v>Healthcare</c:v>
                </c:pt>
                <c:pt idx="3">
                  <c:v>Institutional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20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8A-0448-AA71-7DAC9CED1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Reasonable</a:t>
            </a:r>
            <a:r>
              <a:rPr lang="en-US" sz="1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Senior Term Loan</c:v>
                </c:pt>
                <c:pt idx="1">
                  <c:v>Sub / Notes</c:v>
                </c:pt>
                <c:pt idx="2">
                  <c:v>Sponsor Equity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2200</c:v>
                </c:pt>
                <c:pt idx="1">
                  <c:v>800</c:v>
                </c:pt>
                <c:pt idx="2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37-0549-BCA6-295DAC8E83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Senior Term Loan</c:v>
                </c:pt>
                <c:pt idx="1">
                  <c:v>Sub / Notes</c:v>
                </c:pt>
                <c:pt idx="2">
                  <c:v>Sponsor Equity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7A37-0549-BCA6-295DAC8E83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Senior Term Loan</c:v>
                </c:pt>
                <c:pt idx="1">
                  <c:v>Sub / Notes</c:v>
                </c:pt>
                <c:pt idx="2">
                  <c:v>Sponsor Equity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7A37-0549-BCA6-295DAC8E83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63000447"/>
        <c:axId val="563002159"/>
      </c:barChart>
      <c:catAx>
        <c:axId val="563000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3002159"/>
        <c:crosses val="autoZero"/>
        <c:auto val="1"/>
        <c:lblAlgn val="ctr"/>
        <c:lblOffset val="100"/>
        <c:noMultiLvlLbl val="0"/>
      </c:catAx>
      <c:valAx>
        <c:axId val="5630021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30004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EBITDA Growth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LTM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445</c:v>
                </c:pt>
                <c:pt idx="2">
                  <c:v>470</c:v>
                </c:pt>
                <c:pt idx="3">
                  <c:v>495</c:v>
                </c:pt>
                <c:pt idx="4">
                  <c:v>520</c:v>
                </c:pt>
                <c:pt idx="5">
                  <c:v>545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EE-EA45-9AF3-8DC4904E9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9344255"/>
        <c:axId val="589895567"/>
      </c:lineChart>
      <c:catAx>
        <c:axId val="589344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9895567"/>
        <c:crosses val="autoZero"/>
        <c:auto val="1"/>
        <c:lblAlgn val="ctr"/>
        <c:lblOffset val="100"/>
        <c:noMultiLvlLbl val="0"/>
      </c:catAx>
      <c:valAx>
        <c:axId val="589895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9344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Leverage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Leverage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Entry</c:v>
                </c:pt>
                <c:pt idx="1">
                  <c:v>Year 1 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4.4000000000000004</c:v>
                </c:pt>
                <c:pt idx="2">
                  <c:v>3.8</c:v>
                </c:pt>
                <c:pt idx="3">
                  <c:v>3.2</c:v>
                </c:pt>
                <c:pt idx="4">
                  <c:v>2.7</c:v>
                </c:pt>
                <c:pt idx="5">
                  <c:v>2.2999999999999998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EC-D94B-A51B-A1A36B1C53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9156543"/>
        <c:axId val="588661407"/>
      </c:lineChart>
      <c:catAx>
        <c:axId val="58915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8661407"/>
        <c:crosses val="autoZero"/>
        <c:auto val="1"/>
        <c:lblAlgn val="ctr"/>
        <c:lblOffset val="100"/>
        <c:noMultiLvlLbl val="0"/>
      </c:catAx>
      <c:valAx>
        <c:axId val="5886614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9156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Entry Equity</cx:pt>
          <cx:pt idx="1">EBITDA Growth</cx:pt>
          <cx:pt idx="2">Debt Repayment</cx:pt>
          <cx:pt idx="3">Exit Multiples</cx:pt>
          <cx:pt idx="4">Exit Equity</cx:pt>
        </cx:lvl>
      </cx:strDim>
      <cx:numDim type="val">
        <cx:f>Sheet1!$B$2:$B$9</cx:f>
        <cx:lvl ptCount="8" formatCode="General">
          <cx:pt idx="0">1500</cx:pt>
          <cx:pt idx="1">900</cx:pt>
          <cx:pt idx="2">1100</cx:pt>
          <cx:pt idx="3">0</cx:pt>
          <cx:pt idx="4">3500</cx:pt>
        </cx:lvl>
      </cx:numDim>
    </cx:data>
  </cx:chartData>
  <cx:chart>
    <cx:title pos="t" align="ctr" overlay="0">
      <cx:tx>
        <cx:txData>
          <cx:v>Value Creation Bridge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200" b="0" i="0" u="none" strike="noStrike" baseline="0" dirty="0">
              <a:solidFill>
                <a:srgbClr val="000000">
                  <a:lumMod val="65000"/>
                  <a:lumOff val="3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Creation Bridge</a:t>
          </a:r>
        </a:p>
      </cx:txPr>
    </cx:title>
    <cx:plotArea>
      <cx:plotAreaRegion>
        <cx:series layoutId="waterfall" uniqueId="{A2EA6259-9BFE-5D49-A891-B1CF9C290B69}">
          <cx:tx>
            <cx:txData>
              <cx:f>Sheet1!$B$1</cx:f>
              <cx:v>Value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 hidden="1">
        <cx:catScaling gapWidth="5"/>
        <cx:tickLabels/>
      </cx:axis>
      <cx:axis id="1">
        <cx:valScaling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848d6a8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848d6a8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2848d6a8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2848d6a8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2848d6a8b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2848d6a8b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2848d6a8b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2848d6a8b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2848d6a8b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2848d6a8b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2848d6a8b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2848d6a8b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2848d6a8b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2848d6a8b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2848d6a8b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2848d6a8b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2848d6a8b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2848d6a8b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848d6a8b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848d6a8b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2848d6a8b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2848d6a8b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528650"/>
            <a:ext cx="8520600" cy="104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HD Supplies Holdings</a:t>
            </a:r>
            <a:b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Leading Suppliers of Maintenance, Repairs and Operational Products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41361" y="2995092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Acquisitions by KKR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Dated- October 2025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85175" y="146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Transaction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4823250"/>
            <a:ext cx="7827900" cy="2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 and MOIC based on base-case operating assumptions and a 7.5x exit EV/EBITDA multiple.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i="1">
              <a:solidFill>
                <a:schemeClr val="dk1"/>
              </a:solidFill>
            </a:endParaRPr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311700" y="899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20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HD Supplies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 Type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Leverage Buyout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Enterprise Value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$8.2 bn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LTM EBITDA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$835 m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Entry Multiple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7.8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Debt / Equity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72% / 28%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Invested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$2.3 bn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Holding period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years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Base-Case IRR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19-20%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Base- Case MOIC</a:t>
                      </a:r>
                      <a:endParaRPr sz="10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2.4 x 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Business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270300" y="3280975"/>
            <a:ext cx="3594000" cy="14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HD Supply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leading North American distributor of non-discretionary MRO products serving multifamily, hospitality, healthcare, and institutional end markets. The company benefits from recurring demand, a diversified customer base, and a scaled distribution network enabling strong free cash flow generation.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311700" y="1229950"/>
          <a:ext cx="3594000" cy="182865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17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End Market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of Revenue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Multifamily Housing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Hospitality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Healthcare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Other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8A86917-6A0B-81F9-A1B9-31F497DB06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0235339"/>
              </p:ext>
            </p:extLst>
          </p:nvPr>
        </p:nvGraphicFramePr>
        <p:xfrm>
          <a:off x="4378568" y="539750"/>
          <a:ext cx="4273063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Industry and Market Positions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70125"/>
            <a:ext cx="4094400" cy="25753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Highly fragmented MRO distribution landscape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Recurring, non-discretionary maintenance spend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switching costs driven by service quality and logistics integration.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4624525" y="1170125"/>
          <a:ext cx="3666400" cy="190500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183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Commentary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Market Structure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Fragmented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Pricing Power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 Switching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Demand Cyclicality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Low- Moderate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Google Shape;77;p16"/>
          <p:cNvSpPr txBox="1"/>
          <p:nvPr/>
        </p:nvSpPr>
        <p:spPr>
          <a:xfrm>
            <a:off x="371175" y="4500575"/>
            <a:ext cx="63036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characteristics based on sponsor diligence.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Investment Thesis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3" name="Google Shape;83;p17"/>
          <p:cNvGraphicFramePr/>
          <p:nvPr/>
        </p:nvGraphicFramePr>
        <p:xfrm>
          <a:off x="4156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159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 Lever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KKR Makes Money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Defensive Cash Flows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Non-discretionary MRO spend provides downside protection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 Growth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SKU expansion, pricing optimization, private label mix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Margin Expansion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Procurement scale, logistics efficiency, automation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Deleveraging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FCF enables rapid senior debt paydown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4" name="Google Shape;84;p17"/>
          <p:cNvSpPr txBox="1"/>
          <p:nvPr/>
        </p:nvSpPr>
        <p:spPr>
          <a:xfrm>
            <a:off x="311700" y="4215550"/>
            <a:ext cx="76623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reliance on multiple expansion assumed in base case.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Sources and Uses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0" name="Google Shape;90;p18"/>
          <p:cNvGraphicFramePr/>
          <p:nvPr/>
        </p:nvGraphicFramePr>
        <p:xfrm>
          <a:off x="311700" y="13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181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Amount ($mm)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Purchase Equity Value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7950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 Fees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Uses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1" name="Google Shape;91;p18"/>
          <p:cNvGraphicFramePr/>
          <p:nvPr/>
        </p:nvGraphicFramePr>
        <p:xfrm>
          <a:off x="4228925" y="13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22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Sources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Amount ($mm)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 Loan B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Asset Backed Debt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Debt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Sponsor equity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Sources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2" name="Google Shape;92;p18"/>
          <p:cNvSpPr txBox="1"/>
          <p:nvPr/>
        </p:nvSpPr>
        <p:spPr>
          <a:xfrm>
            <a:off x="357925" y="4447525"/>
            <a:ext cx="80466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Sources equal uses at close; excludes refinancing of existing facilities.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Capital Structure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8" name="Google Shape;98;p19"/>
          <p:cNvGraphicFramePr/>
          <p:nvPr>
            <p:extLst>
              <p:ext uri="{D42A27DB-BD31-4B8C-83A1-F6EECF244321}">
                <p14:modId xmlns:p14="http://schemas.microsoft.com/office/powerpoint/2010/main" val="2620366143"/>
              </p:ext>
            </p:extLst>
          </p:nvPr>
        </p:nvGraphicFramePr>
        <p:xfrm>
          <a:off x="311700" y="1296175"/>
          <a:ext cx="4260300" cy="228600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213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Enterprise Value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Debt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Debt / EV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/ EV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" name="Google Shape;99;p19"/>
          <p:cNvSpPr txBox="1"/>
          <p:nvPr/>
        </p:nvSpPr>
        <p:spPr>
          <a:xfrm>
            <a:off x="311700" y="3877408"/>
            <a:ext cx="6776515" cy="377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leverage of approximately 7.1x at entry reflects conservative underwriting for an industrial distribution business, with rapid deleveraging driven by strong free cash flow.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Leverage reflects conservative underwriting for an industrial distribution business.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2612363-5BDD-9E09-C473-A9C382EF17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8383651"/>
              </p:ext>
            </p:extLst>
          </p:nvPr>
        </p:nvGraphicFramePr>
        <p:xfrm>
          <a:off x="4695092" y="1116622"/>
          <a:ext cx="4044462" cy="2760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Operating Projections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5" name="Google Shape;105;p20"/>
          <p:cNvGraphicFramePr/>
          <p:nvPr>
            <p:extLst>
              <p:ext uri="{D42A27DB-BD31-4B8C-83A1-F6EECF244321}">
                <p14:modId xmlns:p14="http://schemas.microsoft.com/office/powerpoint/2010/main" val="2929497492"/>
              </p:ext>
            </p:extLst>
          </p:nvPr>
        </p:nvGraphicFramePr>
        <p:xfrm>
          <a:off x="311700" y="1591025"/>
          <a:ext cx="4839450" cy="255856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91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1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1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5496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LTM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3 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31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7750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7944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8182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8468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8722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8940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31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1118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96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 M.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10.8%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11.6%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12.3%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12.5%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6" name="Google Shape;106;p20"/>
          <p:cNvSpPr txBox="1"/>
          <p:nvPr/>
        </p:nvSpPr>
        <p:spPr>
          <a:xfrm>
            <a:off x="457350" y="4387875"/>
            <a:ext cx="67674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Projections reflect base-case operating assumptions.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6608276-D858-93A6-F70D-875B523EFF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1704640"/>
              </p:ext>
            </p:extLst>
          </p:nvPr>
        </p:nvGraphicFramePr>
        <p:xfrm>
          <a:off x="5222630" y="1591025"/>
          <a:ext cx="3771901" cy="2558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Debt Repayment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2" name="Google Shape;112;p21"/>
          <p:cNvGraphicFramePr/>
          <p:nvPr>
            <p:extLst>
              <p:ext uri="{D42A27DB-BD31-4B8C-83A1-F6EECF244321}">
                <p14:modId xmlns:p14="http://schemas.microsoft.com/office/powerpoint/2010/main" val="516615365"/>
              </p:ext>
            </p:extLst>
          </p:nvPr>
        </p:nvGraphicFramePr>
        <p:xfrm>
          <a:off x="311700" y="1562800"/>
          <a:ext cx="4260300" cy="147822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106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 ($mm)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Entry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Debt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4175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2854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Debt / EBITDA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7.1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4.1 x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2.6 x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3" name="Google Shape;113;p21"/>
          <p:cNvSpPr txBox="1"/>
          <p:nvPr/>
        </p:nvSpPr>
        <p:spPr>
          <a:xfrm>
            <a:off x="324775" y="3990200"/>
            <a:ext cx="58131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Assumes 100% excess cash sweep to senior debt.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79E4538-567D-FE80-4BAF-D67191943D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3142249"/>
              </p:ext>
            </p:extLst>
          </p:nvPr>
        </p:nvGraphicFramePr>
        <p:xfrm>
          <a:off x="4879730" y="1160585"/>
          <a:ext cx="3807069" cy="282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Exit &amp; Returns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9" name="Google Shape;119;p22"/>
          <p:cNvGraphicFramePr/>
          <p:nvPr>
            <p:extLst>
              <p:ext uri="{D42A27DB-BD31-4B8C-83A1-F6EECF244321}">
                <p14:modId xmlns:p14="http://schemas.microsoft.com/office/powerpoint/2010/main" val="1318785267"/>
              </p:ext>
            </p:extLst>
          </p:nvPr>
        </p:nvGraphicFramePr>
        <p:xfrm>
          <a:off x="311700" y="1028352"/>
          <a:ext cx="3381069" cy="228600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170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EBITDA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1118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Multiple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Enterprise Value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8385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Debt at Exit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2854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Value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5531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1" name="Google Shape;121;p22"/>
          <p:cNvSpPr txBox="1"/>
          <p:nvPr/>
        </p:nvSpPr>
        <p:spPr>
          <a:xfrm>
            <a:off x="4193930" y="4348125"/>
            <a:ext cx="4242795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 multiple below entry; returns driven by deleveraging.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graphicFrame>
        <p:nvGraphicFramePr>
          <p:cNvPr id="2" name="Google Shape;120;p22">
            <a:extLst>
              <a:ext uri="{FF2B5EF4-FFF2-40B4-BE49-F238E27FC236}">
                <a16:creationId xmlns:a16="http://schemas.microsoft.com/office/drawing/2014/main" id="{1F3BFAAE-6F55-F213-613A-562B20198C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8960439"/>
              </p:ext>
            </p:extLst>
          </p:nvPr>
        </p:nvGraphicFramePr>
        <p:xfrm>
          <a:off x="311700" y="3430835"/>
          <a:ext cx="3381400" cy="114300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16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IRR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19-20%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MOIC</a:t>
                      </a: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2.4 x 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CA735575-D693-B118-35FB-CDD2375462A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71787870"/>
                  </p:ext>
                </p:extLst>
              </p:nvPr>
            </p:nvGraphicFramePr>
            <p:xfrm>
              <a:off x="4369776" y="539750"/>
              <a:ext cx="4668716" cy="380837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CA735575-D693-B118-35FB-CDD2375462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69776" y="539750"/>
                <a:ext cx="4668716" cy="380837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Sensitivity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6495650" y="1152475"/>
            <a:ext cx="2336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	Exit Multiples vs IRR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2	EBITDA Growth VS IRR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8" name="Google Shape;128;p23"/>
          <p:cNvGraphicFramePr/>
          <p:nvPr/>
        </p:nvGraphicFramePr>
        <p:xfrm>
          <a:off x="311700" y="130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115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6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EV/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6.5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7.0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7.5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8.0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IRR(%)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19.5%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22.0%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9" name="Google Shape;129;p23"/>
          <p:cNvGraphicFramePr/>
          <p:nvPr/>
        </p:nvGraphicFramePr>
        <p:xfrm>
          <a:off x="358050" y="290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{C4C37ADB-3C4D-42E5-B712-06D5EB9988BE}</a:tableStyleId>
              </a:tblPr>
              <a:tblGrid>
                <a:gridCol w="115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6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 Case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IRR(%)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19.5%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22.0%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0" name="Google Shape;130;p23"/>
          <p:cNvSpPr txBox="1"/>
          <p:nvPr/>
        </p:nvSpPr>
        <p:spPr>
          <a:xfrm>
            <a:off x="457350" y="4368000"/>
            <a:ext cx="57807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other assumptions held constant.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Recommendations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311700" y="1166450"/>
            <a:ext cx="8520600" cy="20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Investment Recommendation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Stable, defensive MRO business with recurring demand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free cash flow supports rapid deleveraging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Conservative underwriting with downside capital protection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Attractive risk-adjusted returns without reliance on multiple expansion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497125" y="4255325"/>
            <a:ext cx="61776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to final confirmatory diligence and financing availability.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623</Words>
  <Application>Microsoft Macintosh PowerPoint</Application>
  <PresentationFormat>On-screen Show 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HD Supplies Holdings  Leading Suppliers of Maintenance, Repairs and Operational Products</vt:lpstr>
      <vt:lpstr>Transaction Overview</vt:lpstr>
      <vt:lpstr>Business Overview</vt:lpstr>
      <vt:lpstr>Industry and Market Positions </vt:lpstr>
      <vt:lpstr>Investment Thesis </vt:lpstr>
      <vt:lpstr>Sources and Uses</vt:lpstr>
      <vt:lpstr>Capital Structure</vt:lpstr>
      <vt:lpstr>Operating Projections </vt:lpstr>
      <vt:lpstr>Debt Repayment </vt:lpstr>
      <vt:lpstr>Exit &amp; Returns </vt:lpstr>
      <vt:lpstr>Sensitivity </vt:lpstr>
      <vt:lpstr>Recommendations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Gaurav</cp:lastModifiedBy>
  <cp:revision>2</cp:revision>
  <dcterms:modified xsi:type="dcterms:W3CDTF">2026-02-03T18:30:40Z</dcterms:modified>
</cp:coreProperties>
</file>