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04F38E-A743-494C-866A-BC1A7C34921C}">
  <a:tblStyle styleId="{B604F38E-A743-494C-866A-BC1A7C3492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45"/>
  </p:normalViewPr>
  <p:slideViewPr>
    <p:cSldViewPr snapToGrid="0">
      <p:cViewPr varScale="1">
        <p:scale>
          <a:sx n="145" d="100"/>
          <a:sy n="145" d="100"/>
        </p:scale>
        <p:origin x="3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Waste Market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Growth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70</c:v>
                </c:pt>
                <c:pt idx="2">
                  <c:v>72</c:v>
                </c:pt>
                <c:pt idx="3">
                  <c:v>74</c:v>
                </c:pt>
                <c:pt idx="4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D7-B944-AC0A-0EC6883A29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5969487"/>
        <c:axId val="258383967"/>
      </c:barChart>
      <c:catAx>
        <c:axId val="585969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8383967"/>
        <c:crosses val="autoZero"/>
        <c:auto val="1"/>
        <c:lblAlgn val="ctr"/>
        <c:lblOffset val="100"/>
        <c:noMultiLvlLbl val="0"/>
      </c:catAx>
      <c:valAx>
        <c:axId val="2583839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5969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C6C-2E4C-8CD4-F4F4D1D7C38F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6C-2E4C-8CD4-F4F4D1D7C3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C6C-2E4C-8CD4-F4F4D1D7C38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6C-2E4C-8CD4-F4F4D1D7C38F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C6C-2E4C-8CD4-F4F4D1D7C38F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C6C-2E4C-8CD4-F4F4D1D7C38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C6C-2E4C-8CD4-F4F4D1D7C38F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C6C-2E4C-8CD4-F4F4D1D7C3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Waste Connections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0.22</c:v>
                </c:pt>
                <c:pt idx="1">
                  <c:v>0.12</c:v>
                </c:pt>
                <c:pt idx="2">
                  <c:v>0.06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6C-2E4C-8CD4-F4F4D1D7C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 Football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 (Low)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Trading Comparables</c:v>
                </c:pt>
                <c:pt idx="1">
                  <c:v>Precedent Transactions</c:v>
                </c:pt>
                <c:pt idx="2">
                  <c:v>DCF (Standalone)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55</c:v>
                </c:pt>
                <c:pt idx="2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22-5241-A227-7934F4ADB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 (High − Low)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Trading Comparables</c:v>
                </c:pt>
                <c:pt idx="1">
                  <c:v>Precedent Transactions</c:v>
                </c:pt>
                <c:pt idx="2">
                  <c:v>DCF (Standalone)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22-5241-A227-7934F4ADB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17002959"/>
        <c:axId val="551065503"/>
      </c:barChart>
      <c:catAx>
        <c:axId val="917002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065503"/>
        <c:crosses val="autoZero"/>
        <c:auto val="1"/>
        <c:lblAlgn val="ctr"/>
        <c:lblOffset val="100"/>
        <c:noMultiLvlLbl val="0"/>
      </c:catAx>
      <c:valAx>
        <c:axId val="55106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00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6e4c1b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6e4c1b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66e4c1b04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66e4c1b04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6e4c1b04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6e4c1b04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66e4c1b04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66e4c1b04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6e4c1b04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66e4c1b04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66e4c1b04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66e4c1b04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66e4c1b04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66e4c1b04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66e4c1b04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66e4c1b04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6e4c1b04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6e4c1b04_2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66e4c1b04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66e4c1b04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66e4c1b04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66e4c1b04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d733f70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2d733f70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Advanced Disposal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 leading regional U.S. waste management platform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25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Acquisition by Waste Management, Inc.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October 2025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Waste Management to Acquire Advanced Disposal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72200" y="1162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Transformational Consolidation in U.S. waste management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WM→ADS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2" name="Google Shape;62;p14"/>
          <p:cNvGraphicFramePr/>
          <p:nvPr>
            <p:extLst>
              <p:ext uri="{D42A27DB-BD31-4B8C-83A1-F6EECF244321}">
                <p14:modId xmlns:p14="http://schemas.microsoft.com/office/powerpoint/2010/main" val="1168494443"/>
              </p:ext>
            </p:extLst>
          </p:nvPr>
        </p:nvGraphicFramePr>
        <p:xfrm>
          <a:off x="952500" y="2282875"/>
          <a:ext cx="7242266" cy="2286000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3621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Offer Price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$30.30 All Cash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4.6 Billion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7.6 billion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Announcement Year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Type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Strategic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Acqusition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Target Company Overview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722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Disposal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311700" y="1703775"/>
          <a:ext cx="4933300" cy="2286000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246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 billion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470 m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Collection Routes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States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million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Industry Overview	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6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Takeaway: Highly fragmented industry with strong consolidations tailwinds.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858475" y="3888800"/>
            <a:ext cx="57159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waste market size: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$75bn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growth: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3–4% CAGR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3 players market share: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87E7AA-E3A1-E06C-1647-B9B1EEBBDD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6530321"/>
              </p:ext>
            </p:extLst>
          </p:nvPr>
        </p:nvGraphicFramePr>
        <p:xfrm>
          <a:off x="896982" y="1475965"/>
          <a:ext cx="3675018" cy="2412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2C06DC5-8B44-6E18-A84D-0E6DA1F7D4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5390938"/>
              </p:ext>
            </p:extLst>
          </p:nvPr>
        </p:nvGraphicFramePr>
        <p:xfrm>
          <a:off x="4789116" y="1017726"/>
          <a:ext cx="4043183" cy="3589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Valuation Football Field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DCF (Standalone): $89.0</a:t>
            </a:r>
            <a:br>
              <a:rPr lang="en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Trading Comparables: $51 – $66</a:t>
            </a:r>
            <a:br>
              <a:rPr lang="en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Precedent Transactions: $55 – $69</a:t>
            </a:r>
            <a:br>
              <a:rPr lang="en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Offer Price: $30.30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4C157F7-1E85-4D99-86A9-9C02DDF183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3951765"/>
              </p:ext>
            </p:extLst>
          </p:nvPr>
        </p:nvGraphicFramePr>
        <p:xfrm>
          <a:off x="3712028" y="539750"/>
          <a:ext cx="5203372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172768-C3F6-5B4A-BFFF-1D283F5833BE}"/>
              </a:ext>
            </a:extLst>
          </p:cNvPr>
          <p:cNvSpPr txBox="1"/>
          <p:nvPr/>
        </p:nvSpPr>
        <p:spPr>
          <a:xfrm>
            <a:off x="0" y="4507667"/>
            <a:ext cx="6372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DCF reflects standalone intrinsic value assuming no transaction constraints;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 price reflects regulatory risk, execution risk, and a conservative, all-cash acquisition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Trading Comparables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3952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ADS Implied value: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Public market data and company filings.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311700" y="1575225"/>
          <a:ext cx="4826000" cy="1524000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EV/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9.3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ADS LTM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470 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Equity Value/ Share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$51- $66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Precedent Transactions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157625" y="4138825"/>
            <a:ext cx="85206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ADS Implied Value: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announcements and public disclosures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311700" y="1758375"/>
          <a:ext cx="4826000" cy="1524000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Deal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EBITDA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Ev/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9.8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Range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9.0 x - 10.5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ADS Value / Share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$55 - $69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32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DCF Valuation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4490450"/>
            <a:ext cx="68457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Sources: Management projections and valuation analysis.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" name="Google Shape;103;p20"/>
          <p:cNvGraphicFramePr/>
          <p:nvPr/>
        </p:nvGraphicFramePr>
        <p:xfrm>
          <a:off x="311700" y="1084425"/>
          <a:ext cx="7239000" cy="1519335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Assumptions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WAAC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6.55%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Terminal Growth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2.25%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Forecast Period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Years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4" name="Google Shape;104;p20"/>
          <p:cNvGraphicFramePr/>
          <p:nvPr/>
        </p:nvGraphicFramePr>
        <p:xfrm>
          <a:off x="311700" y="2706425"/>
          <a:ext cx="7239000" cy="1508730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DCF Outputs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$52.4 Billion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$36.2 billion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Share Price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55725" y="232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Transaction Considerations &amp; Synergies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99750" y="804950"/>
            <a:ext cx="85206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5318"/>
              <a:buFont typeface="Arial"/>
              <a:buNone/>
            </a:pPr>
            <a:r>
              <a:rPr lang="en" sz="242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Considerations</a:t>
            </a:r>
            <a:endParaRPr sz="2427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450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All-cash consideration: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$30.30 per share</a:t>
            </a:r>
            <a:b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450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 value: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$4.6bn</a:t>
            </a:r>
            <a:b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450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value: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$7.6bn</a:t>
            </a:r>
            <a:b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450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Valuation reflects a </a:t>
            </a: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conservative, risk-adjusted entry price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relative to standalone and market benchmarks</a:t>
            </a:r>
            <a:b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502">
              <a:buClr>
                <a:schemeClr val="dk1"/>
              </a:buClr>
              <a:buSzPct val="100000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rationale is driven by strategic fit and long-term synergies rather than near-term EPS accretion.</a:t>
            </a:r>
            <a:b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Synergies 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6068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 density optimization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overlapping geographies</a:t>
            </a:r>
            <a:b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60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SG&amp;A efficiencies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back-office and overhead consolidation</a:t>
            </a:r>
            <a:b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225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margin improvement</a:t>
            </a:r>
            <a:r>
              <a:rPr lang="e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driven by scale and pricing discipli</a:t>
            </a:r>
            <a:r>
              <a:rPr lang="en" sz="164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</a:t>
            </a:r>
            <a:endParaRPr sz="1645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399750" y="4534475"/>
            <a:ext cx="6978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No pro-forma accretion/dilution analysis performed. Synergies discussed qualitatively only.</a:t>
            </a:r>
            <a:endParaRPr sz="1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imes New Roman"/>
                <a:ea typeface="Times New Roman"/>
                <a:cs typeface="Times New Roman"/>
                <a:sym typeface="Times New Roman"/>
              </a:rPr>
              <a:t>Key Risks and Metrics	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9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Risks</a:t>
            </a:r>
            <a:endParaRPr sz="139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0195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Approval Risk</a:t>
            </a:r>
            <a:b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Antitrust review and potential divestiture requirements</a:t>
            </a:r>
            <a:b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01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&amp; Execution Risk</a:t>
            </a:r>
            <a:b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Operational complexity integrating routes, facilities, and systems</a:t>
            </a:r>
            <a:b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01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Times New Roman"/>
              <a:buChar char="●"/>
            </a:pPr>
            <a: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Inflation Risk</a:t>
            </a:r>
            <a:b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Sustained labor, fuel, or maintenance cost pressure could delay margin expansion</a:t>
            </a:r>
            <a:b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9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Mitigants</a:t>
            </a:r>
            <a:endParaRPr sz="139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019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precedent of </a:t>
            </a:r>
            <a: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remedies</a:t>
            </a: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waste-sector transactions</a:t>
            </a:r>
            <a:b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Experienced integration capability</a:t>
            </a: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Waste Management</a:t>
            </a:r>
            <a:b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" sz="97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 pass-through mechanisms</a:t>
            </a:r>
            <a:r>
              <a:rPr lang="en" sz="9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embedded in municipal and commercial contracts</a:t>
            </a:r>
            <a:endParaRPr sz="9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8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Waste Management should proceed with the acquisition of Advanced Disposal, supported by: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Waste Management should proceed with the acquisition of Advanced Disposal based on strategic fit, conservative valuation relative to intrinsic benchmarks, and long-term cash flow visibility. The transaction is not dependent on near-term financial accretion and remains subject to regulatory approval and confirmatory diligence. 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Appendix 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6229425" y="1212525"/>
            <a:ext cx="2538600" cy="15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0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Statistics: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0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25th Percentile 8.6 x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090">
                <a:solidFill>
                  <a:schemeClr val="dk1"/>
                </a:solidFill>
                <a:highlight>
                  <a:schemeClr val="accent6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Median: 9.3 x </a:t>
            </a:r>
            <a:endParaRPr sz="1090">
              <a:solidFill>
                <a:schemeClr val="dk1"/>
              </a:solidFill>
              <a:highlight>
                <a:schemeClr val="accent6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" sz="10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75th Percentile : 10.1 x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" name="Google Shape;130;p24"/>
          <p:cNvGraphicFramePr/>
          <p:nvPr/>
        </p:nvGraphicFramePr>
        <p:xfrm>
          <a:off x="311700" y="1120925"/>
          <a:ext cx="5111200" cy="2966805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127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LTM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Connections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18450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8.7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Republic Services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36800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GFL Environmental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15600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Clean Harbors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13900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10.3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Casella Waste Systems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10.1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Google Shape;131;p24"/>
          <p:cNvSpPr txBox="1"/>
          <p:nvPr/>
        </p:nvSpPr>
        <p:spPr>
          <a:xfrm>
            <a:off x="311700" y="4505125"/>
            <a:ext cx="72492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Public filings and market data as of latest available date.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latin typeface="Times New Roman"/>
                <a:ea typeface="Times New Roman"/>
                <a:cs typeface="Times New Roman"/>
                <a:sym typeface="Times New Roman"/>
              </a:rPr>
              <a:t>Appendix B Precedent Transactions</a:t>
            </a:r>
            <a:endParaRPr sz="2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>
            <a:off x="7065900" y="1619250"/>
            <a:ext cx="1766400" cy="29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Low: 9.0 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Median: 9.8 x 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High: 10.5 x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25"/>
          <p:cNvGraphicFramePr/>
          <p:nvPr/>
        </p:nvGraphicFramePr>
        <p:xfrm>
          <a:off x="311700" y="1223550"/>
          <a:ext cx="6600600" cy="3291660"/>
        </p:xfrm>
        <a:graphic>
          <a:graphicData uri="http://schemas.openxmlformats.org/drawingml/2006/table">
            <a:tbl>
              <a:tblPr>
                <a:noFill/>
                <a:tableStyleId>{B604F38E-A743-494C-866A-BC1A7C34921C}</a:tableStyleId>
              </a:tblPr>
              <a:tblGrid>
                <a:gridCol w="11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Acquirer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 mm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LTM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Connections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Progressive Waste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Republic Services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 Ecology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GFL Environmental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WCA Waste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Management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Advanced Disposal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9.8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Clean Harbors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Environmental services Unit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10.5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9" name="Google Shape;139;p25"/>
          <p:cNvSpPr txBox="1"/>
          <p:nvPr/>
        </p:nvSpPr>
        <p:spPr>
          <a:xfrm>
            <a:off x="425575" y="4593200"/>
            <a:ext cx="6831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Transaction announcements and public disclosures.</a:t>
            </a:r>
            <a:endParaRPr sz="12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718</Words>
  <Application>Microsoft Macintosh PowerPoint</Application>
  <PresentationFormat>On-screen Show (16:9)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Simple Light</vt:lpstr>
      <vt:lpstr>Advanced Disposal A leading regional U.S. waste management platform </vt:lpstr>
      <vt:lpstr>Waste Management to Acquire Advanced Disposal </vt:lpstr>
      <vt:lpstr>Target Company Overview </vt:lpstr>
      <vt:lpstr>Industry Overview   </vt:lpstr>
      <vt:lpstr>Valuation Football Field </vt:lpstr>
      <vt:lpstr>Trading Comparables </vt:lpstr>
      <vt:lpstr>Precedent Transactions  </vt:lpstr>
      <vt:lpstr>DCF Valuation </vt:lpstr>
      <vt:lpstr>Transaction Considerations &amp; Synergies</vt:lpstr>
      <vt:lpstr>Key Risks and Metrics </vt:lpstr>
      <vt:lpstr>Recommendations</vt:lpstr>
      <vt:lpstr>Appendix A </vt:lpstr>
      <vt:lpstr>Appendix B Precedent Transactions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3</cp:revision>
  <dcterms:modified xsi:type="dcterms:W3CDTF">2026-02-03T17:59:19Z</dcterms:modified>
</cp:coreProperties>
</file>