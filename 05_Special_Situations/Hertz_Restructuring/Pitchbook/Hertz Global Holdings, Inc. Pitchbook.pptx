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C32D41-AAD0-464C-999B-8863314FD8A4}">
  <a:tblStyle styleId="{8CC32D41-AAD0-464C-999B-8863314FD8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745"/>
  </p:normalViewPr>
  <p:slideViewPr>
    <p:cSldViewPr snapToGrid="0">
      <p:cViewPr varScale="1">
        <p:scale>
          <a:sx n="145" d="100"/>
          <a:sy n="145" d="100"/>
        </p:scale>
        <p:origin x="47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30</c:v>
                </c:pt>
                <c:pt idx="2">
                  <c:v>55</c:v>
                </c:pt>
                <c:pt idx="3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2E-E943-8858-D23AA85C42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4792831"/>
        <c:axId val="295080063"/>
      </c:lineChart>
      <c:catAx>
        <c:axId val="294792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5080063"/>
        <c:crosses val="autoZero"/>
        <c:auto val="1"/>
        <c:lblAlgn val="ctr"/>
        <c:lblOffset val="100"/>
        <c:noMultiLvlLbl val="0"/>
      </c:catAx>
      <c:valAx>
        <c:axId val="2950800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4792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($bn)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ABS Fleet</c:v>
                </c:pt>
                <c:pt idx="1">
                  <c:v>Senior Uns. Notes</c:v>
                </c:pt>
                <c:pt idx="2">
                  <c:v>Other Unsec.</c:v>
                </c:pt>
                <c:pt idx="3">
                  <c:v>Equity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4.5</c:v>
                </c:pt>
                <c:pt idx="2">
                  <c:v>3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8B-5F49-A09B-C324080D5D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5278223"/>
        <c:axId val="295128239"/>
      </c:barChart>
      <c:catAx>
        <c:axId val="295278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5128239"/>
        <c:crosses val="autoZero"/>
        <c:auto val="1"/>
        <c:lblAlgn val="ctr"/>
        <c:lblOffset val="100"/>
        <c:noMultiLvlLbl val="0"/>
      </c:catAx>
      <c:valAx>
        <c:axId val="2951282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5278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structure ($bn)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Pre- Structuring</c:v>
                </c:pt>
                <c:pt idx="1">
                  <c:v>Post- Structuring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21.5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48-A940-903E-D56F1C739B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Pre- Structuring</c:v>
                </c:pt>
                <c:pt idx="1">
                  <c:v>Post- Structuring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48-A940-903E-D56F1C739B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55817439"/>
        <c:axId val="355819151"/>
      </c:barChart>
      <c:catAx>
        <c:axId val="355817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819151"/>
        <c:crosses val="autoZero"/>
        <c:auto val="1"/>
        <c:lblAlgn val="ctr"/>
        <c:lblOffset val="100"/>
        <c:noMultiLvlLbl val="0"/>
      </c:catAx>
      <c:valAx>
        <c:axId val="355819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817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en-US" sz="1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Debt / EBITDA (x)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Pre chapter 11</c:v>
                </c:pt>
                <c:pt idx="1">
                  <c:v>Emergence</c:v>
                </c:pt>
                <c:pt idx="2">
                  <c:v>Steady State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4.5</c:v>
                </c:pt>
                <c:pt idx="2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63-0148-887C-27C3FA14BC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0087215"/>
        <c:axId val="300088927"/>
      </c:lineChart>
      <c:catAx>
        <c:axId val="300087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088927"/>
        <c:crosses val="autoZero"/>
        <c:auto val="1"/>
        <c:lblAlgn val="ctr"/>
        <c:lblOffset val="100"/>
        <c:noMultiLvlLbl val="0"/>
      </c:catAx>
      <c:valAx>
        <c:axId val="3000889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087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Enterprise</cx:pt>
          <cx:pt idx="1">ABS Fleet</cx:pt>
          <cx:pt idx="2">Res. Value</cx:pt>
          <cx:pt idx="3">Sen. Unsecure</cx:pt>
          <cx:pt idx="4">Residual Value</cx:pt>
          <cx:pt idx="5">Other</cx:pt>
          <cx:pt idx="6">Redsidual Equity</cx:pt>
        </cx:lvl>
      </cx:strDim>
      <cx:numDim type="val">
        <cx:f>Sheet1!$B$2:$B$9</cx:f>
        <cx:lvl ptCount="8" formatCode="General">
          <cx:pt idx="0">22</cx:pt>
          <cx:pt idx="1">-14</cx:pt>
          <cx:pt idx="2">8</cx:pt>
          <cx:pt idx="3">-4.5</cx:pt>
          <cx:pt idx="4">3.5</cx:pt>
          <cx:pt idx="5">-3</cx:pt>
          <cx:pt idx="6">0.5</cx:pt>
        </cx:lvl>
      </cx:numDim>
    </cx:data>
  </cx:chartData>
  <cx:chart>
    <cx:title pos="t" align="ctr" overlay="0">
      <cx:tx>
        <cx:txData>
          <cx:v>Enterprise Value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200" b="0" i="0" u="none" strike="noStrike" baseline="0" dirty="0">
              <a:solidFill>
                <a:srgbClr val="000000">
                  <a:lumMod val="65000"/>
                  <a:lumOff val="3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Enterprise Value</a:t>
          </a:r>
        </a:p>
      </cx:txPr>
    </cx:title>
    <cx:plotArea>
      <cx:plotAreaRegion>
        <cx:series layoutId="waterfall" uniqueId="{1B2F6BB4-446C-BD43-AAFA-8A6C454FB920}">
          <cx:tx>
            <cx:txData>
              <cx:f>Sheet1!$B$1</cx:f>
              <cx:v>Value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fe032a0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fe032a0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fe032a0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fe032a0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6fe032a0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6fe032a0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6fe032a0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6fe032a0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6fe032a0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6fe032a0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fe032a0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fe032a06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fe032a06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fe032a06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6fe032a0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6fe032a0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6fe032a0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6fe032a06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6fe032a06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6fe032a06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fe032a06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fe032a06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124025"/>
            <a:ext cx="8520600" cy="17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Hertz Global Holdings, Inc.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734"/>
              <a:buFont typeface="Arial"/>
              <a:buNone/>
            </a:pPr>
            <a:r>
              <a:rPr lang="en" sz="1879">
                <a:latin typeface="Times New Roman"/>
                <a:ea typeface="Times New Roman"/>
                <a:cs typeface="Times New Roman"/>
                <a:sym typeface="Times New Roman"/>
              </a:rPr>
              <a:t>Chapter 11 Restructuring Analysis</a:t>
            </a:r>
            <a:endParaRPr sz="1879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734"/>
              <a:buFont typeface="Arial"/>
              <a:buNone/>
            </a:pPr>
            <a:endParaRPr sz="1879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734"/>
              <a:buFont typeface="Arial"/>
              <a:buNone/>
            </a:pPr>
            <a:r>
              <a:rPr lang="en" sz="1879" dirty="0">
                <a:latin typeface="Times New Roman"/>
                <a:ea typeface="Times New Roman"/>
                <a:cs typeface="Times New Roman"/>
                <a:sym typeface="Times New Roman"/>
              </a:rPr>
              <a:t>Date- December 2025</a:t>
            </a:r>
            <a:endParaRPr sz="1879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sz="238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55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02850" y="328090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80">
                <a:latin typeface="Times New Roman"/>
                <a:ea typeface="Times New Roman"/>
                <a:cs typeface="Times New Roman"/>
                <a:sym typeface="Times New Roman"/>
              </a:rPr>
              <a:t>Confidential – For illustrative and educational purposes only</a:t>
            </a:r>
            <a:endParaRPr sz="14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01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Situation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5945350" y="1017725"/>
            <a:ext cx="23328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Demand shock + leverage rendered capital structure unsustainable</a:t>
            </a:r>
            <a:b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Liquidity exhaustion forced Chapter 11 filing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07450" y="4815375"/>
            <a:ext cx="53379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Company filings, public disclosures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3" name="Google Shape;63;p14"/>
          <p:cNvGraphicFramePr/>
          <p:nvPr/>
        </p:nvGraphicFramePr>
        <p:xfrm>
          <a:off x="422300" y="7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{8CC32D41-AAD0-464C-999B-8863314FD8A4}</a:tableStyleId>
              </a:tblPr>
              <a:tblGrid>
                <a:gridCol w="23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Filing Date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May 22,2020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Industry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Vehicle Rental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Trigger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CoVID-19 travel collapse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2019 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$9.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 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$5.2 bn (-47%)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2019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$2.3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$(0.5)bn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$19.2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Liquidity Run-Out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 (pre-restructuring)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Business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5362975" y="1306325"/>
            <a:ext cx="3469200" cy="19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Globally recognized brand portfolio</a:t>
            </a:r>
            <a:b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Large, flexible vehicle fleet</a:t>
            </a:r>
            <a:b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High operating leverage to travel demand</a:t>
            </a:r>
            <a:b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Going-concern value exceeds liquidation value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396200" y="130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{8CC32D41-AAD0-464C-999B-8863314FD8A4}</a:tableStyleId>
              </a:tblPr>
              <a:tblGrid>
                <a:gridCol w="167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Brands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Hertz, Dollar, Thrifty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Geography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 airport &amp; off- airport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Business Model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Asset- backed vehicle rental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Leisure &amp; business travel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" name="Google Shape;71;p15"/>
          <p:cNvSpPr txBox="1"/>
          <p:nvPr/>
        </p:nvSpPr>
        <p:spPr>
          <a:xfrm>
            <a:off x="495450" y="4406850"/>
            <a:ext cx="38157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Company disclosures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72475" y="3828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Causes of Disaster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531625" y="4404925"/>
            <a:ext cx="789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pre-petition operating forecasts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9" name="Google Shape;79;p16"/>
          <p:cNvGraphicFramePr/>
          <p:nvPr>
            <p:extLst>
              <p:ext uri="{D42A27DB-BD31-4B8C-83A1-F6EECF244321}">
                <p14:modId xmlns:p14="http://schemas.microsoft.com/office/powerpoint/2010/main" val="4158756370"/>
              </p:ext>
            </p:extLst>
          </p:nvPr>
        </p:nvGraphicFramePr>
        <p:xfrm>
          <a:off x="372475" y="1428750"/>
          <a:ext cx="4086314" cy="2453610"/>
        </p:xfrm>
        <a:graphic>
          <a:graphicData uri="http://schemas.openxmlformats.org/drawingml/2006/table">
            <a:tbl>
              <a:tblPr>
                <a:noFill/>
                <a:tableStyleId>{8CC32D41-AAD0-464C-999B-8863314FD8A4}</a:tableStyleId>
              </a:tblPr>
              <a:tblGrid>
                <a:gridCol w="2043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Factor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Impact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Travel collapse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 47% in 2020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Fixed Costs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Fleet + operating rigidity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Leverage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8.3 x Debt / EBITDA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Interest Burden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$900mm annual cash interest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Liquidity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$(1.46) bn FCF in 2020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0A86A6D-E060-93C2-9FAD-1717FAF465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3654601"/>
              </p:ext>
            </p:extLst>
          </p:nvPr>
        </p:nvGraphicFramePr>
        <p:xfrm>
          <a:off x="4685213" y="955548"/>
          <a:ext cx="4207861" cy="3093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Capital Structure at Filing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4273050"/>
            <a:ext cx="8520600" cy="6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Secured ABS debt structurally senior to corporate creditors.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Footnote   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 debt secured by vehicle fleet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17"/>
          <p:cNvGraphicFramePr/>
          <p:nvPr>
            <p:extLst>
              <p:ext uri="{D42A27DB-BD31-4B8C-83A1-F6EECF244321}">
                <p14:modId xmlns:p14="http://schemas.microsoft.com/office/powerpoint/2010/main" val="774134306"/>
              </p:ext>
            </p:extLst>
          </p:nvPr>
        </p:nvGraphicFramePr>
        <p:xfrm>
          <a:off x="481625" y="1224325"/>
          <a:ext cx="4090374" cy="3002220"/>
        </p:xfrm>
        <a:graphic>
          <a:graphicData uri="http://schemas.openxmlformats.org/drawingml/2006/table">
            <a:tbl>
              <a:tblPr>
                <a:noFill/>
                <a:tableStyleId>{8CC32D41-AAD0-464C-999B-8863314FD8A4}</a:tableStyleId>
              </a:tblPr>
              <a:tblGrid>
                <a:gridCol w="136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Tranche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Amount ($bn)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Priority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Vehicle ABS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Lien Term Loan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Second Lien Notes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Senior Unsecured Notes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Unsecured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Convertible Notes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Unsecured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F87FCE7-A16F-EE3D-FCEE-2B1F8B71D9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640417"/>
              </p:ext>
            </p:extLst>
          </p:nvPr>
        </p:nvGraphicFramePr>
        <p:xfrm>
          <a:off x="4741924" y="1017725"/>
          <a:ext cx="4090375" cy="3255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Enterprise Valuation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3873300"/>
            <a:ext cx="8520600" cy="6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Valuation anchored to distressed transportation comps</a:t>
            </a:r>
            <a:b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Footnote: Valuation for recovery analysis only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3" name="Google Shape;93;p18"/>
          <p:cNvGraphicFramePr/>
          <p:nvPr/>
        </p:nvGraphicFramePr>
        <p:xfrm>
          <a:off x="496825" y="1308500"/>
          <a:ext cx="7239000" cy="1524000"/>
        </p:xfrm>
        <a:graphic>
          <a:graphicData uri="http://schemas.openxmlformats.org/drawingml/2006/table">
            <a:tbl>
              <a:tblPr>
                <a:noFill/>
                <a:tableStyleId>{8CC32D41-AAD0-464C-999B-8863314FD8A4}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EBITDA($bn)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EV($bn)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4.0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4.5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5.0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A1DAB13-8635-60CD-145F-C503BFC4A441}"/>
              </a:ext>
            </a:extLst>
          </p:cNvPr>
          <p:cNvSpPr txBox="1"/>
          <p:nvPr/>
        </p:nvSpPr>
        <p:spPr>
          <a:xfrm>
            <a:off x="311700" y="3332285"/>
            <a:ext cx="7619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Valuation performed for recovery analysis purposes only and does not represent market trading or intrinsic equity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241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Waterfall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3888475"/>
            <a:ext cx="8520600" cy="6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Translates enterprise value into dollar recoveries for each class of debt and equity, identifying who is in-the-money and who is impaired.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19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Recoveries based on base-case enterprise value</a:t>
            </a:r>
            <a:endParaRPr sz="119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0" name="Google Shape;100;p19"/>
          <p:cNvGraphicFramePr/>
          <p:nvPr>
            <p:extLst>
              <p:ext uri="{D42A27DB-BD31-4B8C-83A1-F6EECF244321}">
                <p14:modId xmlns:p14="http://schemas.microsoft.com/office/powerpoint/2010/main" val="1715134562"/>
              </p:ext>
            </p:extLst>
          </p:nvPr>
        </p:nvGraphicFramePr>
        <p:xfrm>
          <a:off x="500500" y="1017725"/>
          <a:ext cx="4071500" cy="3002220"/>
        </p:xfrm>
        <a:graphic>
          <a:graphicData uri="http://schemas.openxmlformats.org/drawingml/2006/table">
            <a:tbl>
              <a:tblPr>
                <a:noFill/>
                <a:tableStyleId>{8CC32D41-AAD0-464C-999B-8863314FD8A4}</a:tableStyleId>
              </a:tblPr>
              <a:tblGrid>
                <a:gridCol w="101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Claim($bn)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Recovery($bn)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 Lenders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Lien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Second Lien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Senior Unsecured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Convertible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71EF1169-1FFF-1010-D5BF-D48866A7E0C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41850901"/>
                  </p:ext>
                </p:extLst>
              </p:nvPr>
            </p:nvGraphicFramePr>
            <p:xfrm>
              <a:off x="4760800" y="1017724"/>
              <a:ext cx="4260300" cy="311013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71EF1169-1FFF-1010-D5BF-D48866A7E0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60800" y="1017724"/>
                <a:ext cx="4260300" cy="311013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Restructuring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3996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Illustrative restructuring mechanics.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7" name="Google Shape;107;p20"/>
          <p:cNvGraphicFramePr/>
          <p:nvPr/>
        </p:nvGraphicFramePr>
        <p:xfrm>
          <a:off x="311700" y="109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{8CC32D41-AAD0-464C-999B-8863314FD8A4}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Action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Outcome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Reinstated ABS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Preserves fleet financing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Extend First Lien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Liquidity relief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 2L conversion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Deleveraging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Unsecured equalization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Balance-sheet repair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cancellation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Reflects insolvency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236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 Forma Capital Structure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4369479"/>
            <a:ext cx="8520600" cy="6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Demonstrates that Hertz emerges from Chapter 11 with sustainable leverage, liquidity, and a viable long-term balance sheet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2022E EBITDA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26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4" name="Google Shape;114;p21"/>
          <p:cNvGraphicFramePr/>
          <p:nvPr>
            <p:extLst>
              <p:ext uri="{D42A27DB-BD31-4B8C-83A1-F6EECF244321}">
                <p14:modId xmlns:p14="http://schemas.microsoft.com/office/powerpoint/2010/main" val="1946761558"/>
              </p:ext>
            </p:extLst>
          </p:nvPr>
        </p:nvGraphicFramePr>
        <p:xfrm>
          <a:off x="311700" y="1017725"/>
          <a:ext cx="3972918" cy="2072610"/>
        </p:xfrm>
        <a:graphic>
          <a:graphicData uri="http://schemas.openxmlformats.org/drawingml/2006/table">
            <a:tbl>
              <a:tblPr>
                <a:noFill/>
                <a:tableStyleId>{8CC32D41-AAD0-464C-999B-8863314FD8A4}</a:tableStyleId>
              </a:tblPr>
              <a:tblGrid>
                <a:gridCol w="1986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Instrument (Post- reorg capitalization)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 ($bn)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Vehicle ABS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Lien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Second Lien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15.6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5" name="Google Shape;115;p21"/>
          <p:cNvGraphicFramePr/>
          <p:nvPr>
            <p:extLst>
              <p:ext uri="{D42A27DB-BD31-4B8C-83A1-F6EECF244321}">
                <p14:modId xmlns:p14="http://schemas.microsoft.com/office/powerpoint/2010/main" val="2180817475"/>
              </p:ext>
            </p:extLst>
          </p:nvPr>
        </p:nvGraphicFramePr>
        <p:xfrm>
          <a:off x="311700" y="3140740"/>
          <a:ext cx="2838400" cy="1428110"/>
        </p:xfrm>
        <a:graphic>
          <a:graphicData uri="http://schemas.openxmlformats.org/drawingml/2006/table">
            <a:tbl>
              <a:tblPr>
                <a:noFill/>
                <a:tableStyleId>{8CC32D41-AAD0-464C-999B-8863314FD8A4}</a:tableStyleId>
              </a:tblPr>
              <a:tblGrid>
                <a:gridCol w="14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Debt /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10.4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Interest/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3CAEDB0-7F18-00BD-E377-E3D7032B70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1720815"/>
              </p:ext>
            </p:extLst>
          </p:nvPr>
        </p:nvGraphicFramePr>
        <p:xfrm>
          <a:off x="4781598" y="714102"/>
          <a:ext cx="3972918" cy="3492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Recovery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4002775"/>
            <a:ext cx="8520600" cy="6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3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Recoveries highly sensitive to valuation.</a:t>
            </a:r>
            <a:endParaRPr sz="1235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3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Footnote: Assumes constant claim priorities.</a:t>
            </a:r>
            <a:br>
              <a:rPr lang="en" sz="123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35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sz="1235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53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" name="Google Shape;123;p22"/>
          <p:cNvGraphicFramePr/>
          <p:nvPr>
            <p:extLst>
              <p:ext uri="{D42A27DB-BD31-4B8C-83A1-F6EECF244321}">
                <p14:modId xmlns:p14="http://schemas.microsoft.com/office/powerpoint/2010/main" val="2955549839"/>
              </p:ext>
            </p:extLst>
          </p:nvPr>
        </p:nvGraphicFramePr>
        <p:xfrm>
          <a:off x="444137" y="1210725"/>
          <a:ext cx="3605350" cy="1524000"/>
        </p:xfrm>
        <a:graphic>
          <a:graphicData uri="http://schemas.openxmlformats.org/drawingml/2006/table">
            <a:tbl>
              <a:tblPr>
                <a:noFill/>
                <a:tableStyleId>{8CC32D41-AAD0-464C-999B-8863314FD8A4}</a:tableStyleId>
              </a:tblPr>
              <a:tblGrid>
                <a:gridCol w="1791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 ($bn)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Recovery %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6.75</a:t>
                      </a:r>
                      <a:endParaRPr sz="1200" b="1" dirty="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41%</a:t>
                      </a:r>
                      <a:endParaRPr sz="1200" b="1" dirty="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B4DEFE6-06DA-FFBC-70DE-11604645E4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944662"/>
              </p:ext>
            </p:extLst>
          </p:nvPr>
        </p:nvGraphicFramePr>
        <p:xfrm>
          <a:off x="4319450" y="539750"/>
          <a:ext cx="4380413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Risks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8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Slower travel recovery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vehicle price volatility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Fleet financing availability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operating leverage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Restructuring execution risk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443300" y="4476400"/>
            <a:ext cx="76752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Risks illustrative, not exhaustive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1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 with balance-sheet restructuring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going-concern value vs liquidation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Equitize unsecured debt to reduce leverage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Raise new equity to support liquidity &amp; fleet renewal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478050" y="4137400"/>
            <a:ext cx="7257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to court approval and creditor negotiations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584</Words>
  <Application>Microsoft Macintosh PowerPoint</Application>
  <PresentationFormat>On-screen Show (16:9)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Hertz Global Holdings, Inc. Chapter 11 Restructuring Analysis  Date- December 2025  </vt:lpstr>
      <vt:lpstr>Situation Overview</vt:lpstr>
      <vt:lpstr>Business Overview</vt:lpstr>
      <vt:lpstr>Causes of Disaster</vt:lpstr>
      <vt:lpstr>Capital Structure at Filing</vt:lpstr>
      <vt:lpstr>Enterprise Valuation </vt:lpstr>
      <vt:lpstr>Waterfall Analysis</vt:lpstr>
      <vt:lpstr>Restructuring</vt:lpstr>
      <vt:lpstr>Pro Forma Capital Structure </vt:lpstr>
      <vt:lpstr>Recovery Analysis</vt:lpstr>
      <vt:lpstr>Risks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Gaurav</cp:lastModifiedBy>
  <cp:revision>2</cp:revision>
  <dcterms:modified xsi:type="dcterms:W3CDTF">2026-02-03T18:35:41Z</dcterms:modified>
</cp:coreProperties>
</file>