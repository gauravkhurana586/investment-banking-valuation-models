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889698-720F-4991-BD18-4A35F9C88E1E}">
  <a:tblStyle styleId="{EB889698-720F-4991-BD18-4A35F9C88E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3"/>
    <p:restoredTop sz="86420"/>
  </p:normalViewPr>
  <p:slideViewPr>
    <p:cSldViewPr snapToGrid="0">
      <p:cViewPr varScale="1">
        <p:scale>
          <a:sx n="145" d="100"/>
          <a:sy n="145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Residential Subs</c:v>
                </c:pt>
                <c:pt idx="1">
                  <c:v>Small Business</c:v>
                </c:pt>
                <c:pt idx="2">
                  <c:v>Total Subscriber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0.8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0-854D-9D85-1F9F240D40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2500063"/>
        <c:axId val="622533471"/>
      </c:barChart>
      <c:catAx>
        <c:axId val="622500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533471"/>
        <c:crosses val="autoZero"/>
        <c:auto val="1"/>
        <c:lblAlgn val="ctr"/>
        <c:lblOffset val="100"/>
        <c:noMultiLvlLbl val="0"/>
      </c:catAx>
      <c:valAx>
        <c:axId val="622533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500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Capital Structure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Senior Sec. Debt</c:v>
                </c:pt>
                <c:pt idx="1">
                  <c:v>Sub/ Notes</c:v>
                </c:pt>
                <c:pt idx="2">
                  <c:v>Apollo Equity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6A-8645-927B-BFBDC922A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56838159"/>
        <c:axId val="656665023"/>
      </c:barChart>
      <c:catAx>
        <c:axId val="656838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665023"/>
        <c:crosses val="autoZero"/>
        <c:auto val="1"/>
        <c:lblAlgn val="ctr"/>
        <c:lblOffset val="100"/>
        <c:noMultiLvlLbl val="0"/>
      </c:catAx>
      <c:valAx>
        <c:axId val="656665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838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Debt / EBITDA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</c:v>
                </c:pt>
                <c:pt idx="1">
                  <c:v>5.9</c:v>
                </c:pt>
                <c:pt idx="2">
                  <c:v>5.0999999999999996</c:v>
                </c:pt>
                <c:pt idx="3">
                  <c:v>4.3</c:v>
                </c:pt>
                <c:pt idx="4">
                  <c:v>3.6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F9-DB4A-A605-31897024E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6530015"/>
        <c:axId val="666531727"/>
      </c:lineChart>
      <c:catAx>
        <c:axId val="666530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31727"/>
        <c:crosses val="autoZero"/>
        <c:auto val="1"/>
        <c:lblAlgn val="ctr"/>
        <c:lblOffset val="100"/>
        <c:noMultiLvlLbl val="0"/>
      </c:catAx>
      <c:valAx>
        <c:axId val="666531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30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Gross Annual Revenue</cx:pt>
          <cx:pt idx="1">Service Costs</cx:pt>
          <cx:pt idx="2">Customer Support</cx:pt>
          <cx:pt idx="3">Contribution M</cx:pt>
        </cx:lvl>
      </cx:strDim>
      <cx:numDim type="val">
        <cx:f>Sheet1!$B$2:$B$9</cx:f>
        <cx:lvl ptCount="8" formatCode="General">
          <cx:pt idx="0">720</cx:pt>
          <cx:pt idx="1">-180</cx:pt>
          <cx:pt idx="2">-90</cx:pt>
          <cx:pt idx="3">450</cx:pt>
        </cx:lvl>
      </cx:numDim>
    </cx:data>
  </cx:chartData>
  <cx:chart>
    <cx:title pos="t" align="ctr" overlay="0">
      <cx:tx>
        <cx:txData>
          <cx:v>Unit Economics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200" b="0" i="0" u="none" strike="noStrike" baseline="0" dirty="0">
              <a:solidFill>
                <a:srgbClr val="000000">
                  <a:lumMod val="65000"/>
                  <a:lumOff val="3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Unit Economics</a:t>
          </a:r>
        </a:p>
      </cx:txPr>
    </cx:title>
    <cx:plotArea>
      <cx:plotAreaRegion>
        <cx:series layoutId="waterfall" uniqueId="{780BD6FA-79EE-AD45-81DD-CADA6F751AD8}">
          <cx:tx>
            <cx:txData>
              <cx:f>Sheet1!$B$1</cx:f>
              <cx:v>Value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tickLabels/>
      </cx:axis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Equity Growth</cx:pt>
          <cx:pt idx="1">EBITDA Growth</cx:pt>
          <cx:pt idx="2">Debt Paydown</cx:pt>
          <cx:pt idx="3">Exit multiples</cx:pt>
          <cx:pt idx="4">Exit Equity</cx:pt>
        </cx:lvl>
      </cx:strDim>
      <cx:numDim type="val">
        <cx:f>Sheet1!$B$2:$B$6</cx:f>
        <cx:lvl ptCount="5" formatCode="General">
          <cx:pt idx="0">5</cx:pt>
          <cx:pt idx="1">2</cx:pt>
          <cx:pt idx="2">4</cx:pt>
          <cx:pt idx="3">0</cx:pt>
          <cx:pt idx="4">11</cx:pt>
        </cx:lvl>
      </cx:numDim>
    </cx:data>
  </cx:chartData>
  <cx:chart>
    <cx:title pos="t" align="ctr" overlay="0">
      <cx:tx>
        <cx:txData>
          <cx:v>Value Creation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862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r>
            <a: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rPr>
            <a:t>Value Creation</a:t>
          </a:r>
        </a:p>
      </cx:txPr>
    </cx:title>
    <cx:plotArea>
      <cx:plotAreaRegion>
        <cx:series layoutId="waterfall" uniqueId="{D194A5A7-A0D6-7647-B95A-5261ADAE70BE}" formatIdx="0">
          <cx:tx>
            <cx:txData>
              <cx:f>Sheet1!$B$1</cx:f>
              <cx:v>Value</cx:v>
            </cx:txData>
          </cx:tx>
          <cx:dataId val="0"/>
          <cx:layoutPr>
            <cx:subtotals/>
          </cx:layoutPr>
        </cx:series>
      </cx:plotAreaRegion>
      <cx:axis id="0">
        <cx:catScaling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85c1b4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85c1b4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85c1b41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85c1b41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285c1b41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285c1b41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285c1b41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285c1b41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85c1b41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85c1b41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26df812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26df812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285c1b41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285c1b41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285c1b41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285c1b41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85c1b4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285c1b4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285c1b41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285c1b41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85c1b41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85c1b41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79425" y="2127625"/>
            <a:ext cx="8520600" cy="10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ADT Inc.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Leading Professional American Security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 Company for Home Solutions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751438"/>
            <a:ext cx="8520600" cy="1344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Take-Private by Apollo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Dated - October 2025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412BE-B355-6D68-E3C6-6CFE7A124767}"/>
              </a:ext>
            </a:extLst>
          </p:cNvPr>
          <p:cNvSpPr txBox="1"/>
          <p:nvPr/>
        </p:nvSpPr>
        <p:spPr>
          <a:xfrm>
            <a:off x="479425" y="4654378"/>
            <a:ext cx="6211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Subscription-based security platform with predictable cash flows supporting leveraged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21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Transaction Overview	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1907153318"/>
              </p:ext>
            </p:extLst>
          </p:nvPr>
        </p:nvGraphicFramePr>
        <p:xfrm>
          <a:off x="311700" y="794100"/>
          <a:ext cx="4367392" cy="359661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2183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Target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ADT Inc.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Sponsor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Apollo Global Management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Transaction Type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Leverage Buyout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Enterprise Value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$9.0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Entry Multiples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 x 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Consideration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All-Cash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Financing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+ Sponsor 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Closing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Subject to Financing &amp; Approval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" name="Google Shape;62;p14"/>
          <p:cNvSpPr txBox="1"/>
          <p:nvPr/>
        </p:nvSpPr>
        <p:spPr>
          <a:xfrm>
            <a:off x="307500" y="4542500"/>
            <a:ext cx="7239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 represents a highly predictable, subscription-based cash flow business well-suited for leveraged ownership.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D80B6-4FCD-4DFA-F877-6FC98D242452}"/>
              </a:ext>
            </a:extLst>
          </p:cNvPr>
          <p:cNvSpPr txBox="1"/>
          <p:nvPr/>
        </p:nvSpPr>
        <p:spPr>
          <a:xfrm>
            <a:off x="5260528" y="1392194"/>
            <a:ext cx="29903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Apollo take-private of ADT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Value: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$4.5bn (3.9x LTM EBITDA)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Financing: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~65% debt / ~35% equity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Period: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years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Base-Case Returns: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~12% IRR | ~1.75x MOIC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Highly predictable, subscription-driven cash flow business.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311700" y="1129375"/>
          <a:ext cx="3888000" cy="190500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 ( $ 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$6.3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$1.05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Cash Flow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$600 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Google Shape;69;p15"/>
          <p:cNvSpPr txBox="1"/>
          <p:nvPr/>
        </p:nvSpPr>
        <p:spPr>
          <a:xfrm>
            <a:off x="311700" y="3092400"/>
            <a:ext cx="4087500" cy="111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U.S. Residential &amp; Small Business Security Platform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6mm monitored subscribers with long-term contracts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Recurring monthly revenue with low churn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Mission-critical service → non-discretionary demand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661775"/>
            <a:ext cx="76920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visibility and cash conversion are core strengths.</a:t>
            </a:r>
            <a:endParaRPr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9F4F949-1371-2637-3747-D1274644C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2137332"/>
              </p:ext>
            </p:extLst>
          </p:nvPr>
        </p:nvGraphicFramePr>
        <p:xfrm>
          <a:off x="4675708" y="1129375"/>
          <a:ext cx="4156592" cy="3214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Non-cyclical demand supports downside protection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655509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Favorable Long-Term Industry Tailwinds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residential security concerns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toward professionally monitored solutions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Bundling of security + smart-home services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33275" y="4360800"/>
            <a:ext cx="71004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is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non-discretionary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resilient across cycles.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Subscription Economics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311700" y="1542375"/>
          <a:ext cx="3514200" cy="207261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Recurring Revenue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90% +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Monthly Revenue / User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Churn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Lifetime Value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" name="Google Shape;84;p17"/>
          <p:cNvSpPr txBox="1"/>
          <p:nvPr/>
        </p:nvSpPr>
        <p:spPr>
          <a:xfrm>
            <a:off x="219886" y="4097649"/>
            <a:ext cx="79947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economics support </a:t>
            </a: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leverage and rapid deleveraging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R="38100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cash conversion enables rapid debt amortization in early years.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8A44C514-6659-5CCD-BBE3-184C33EE69D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89790922"/>
                  </p:ext>
                </p:extLst>
              </p:nvPr>
            </p:nvGraphicFramePr>
            <p:xfrm>
              <a:off x="3918856" y="1251856"/>
              <a:ext cx="5094515" cy="248194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8A44C514-6659-5CCD-BBE3-184C33EE69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8856" y="1251856"/>
                <a:ext cx="5094515" cy="248194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Apollo value creation driven by cash flow, not growth multiple expansion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56400" y="1090200"/>
            <a:ext cx="6757800" cy="28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Apollo’s Value Creation Plan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Defensive cash flows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subscription revenue supports leverage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churn reduction and SG&amp;A discipline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Deleveraging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free cash flow drives equity value creation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Disciplined exit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multiple supported by improved credit profile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28450" y="4458625"/>
            <a:ext cx="72261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risk-adjusted return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deal, not a growth gamble.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Sources &amp; Uses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4053300"/>
            <a:ext cx="85206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8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Conservative equity check with strong downside protection.</a:t>
            </a:r>
          </a:p>
          <a:p>
            <a:pPr marL="0" marR="381000" indent="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358"/>
              <a:buNone/>
            </a:pPr>
            <a:r>
              <a:rPr lang="en-US" sz="128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structure sized to maximize equity returns while preserving covenant headroom.</a:t>
            </a:r>
            <a:endParaRPr sz="128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endParaRPr sz="585" dirty="0"/>
          </a:p>
        </p:txBody>
      </p:sp>
      <p:graphicFrame>
        <p:nvGraphicFramePr>
          <p:cNvPr id="98" name="Google Shape;98;p19"/>
          <p:cNvGraphicFramePr/>
          <p:nvPr>
            <p:extLst>
              <p:ext uri="{D42A27DB-BD31-4B8C-83A1-F6EECF244321}">
                <p14:modId xmlns:p14="http://schemas.microsoft.com/office/powerpoint/2010/main" val="1264400417"/>
              </p:ext>
            </p:extLst>
          </p:nvPr>
        </p:nvGraphicFramePr>
        <p:xfrm>
          <a:off x="311700" y="1255850"/>
          <a:ext cx="3626000" cy="190500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8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 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Senior Secured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$5.5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Subordinated / PIK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$1.5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Sponsor 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$2.0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Sources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$9.0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9" name="Google Shape;99;p19"/>
          <p:cNvGraphicFramePr/>
          <p:nvPr>
            <p:extLst>
              <p:ext uri="{D42A27DB-BD31-4B8C-83A1-F6EECF244321}">
                <p14:modId xmlns:p14="http://schemas.microsoft.com/office/powerpoint/2010/main" val="106370278"/>
              </p:ext>
            </p:extLst>
          </p:nvPr>
        </p:nvGraphicFramePr>
        <p:xfrm>
          <a:off x="4537550" y="1255850"/>
          <a:ext cx="3626000" cy="152400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8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Purchase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$8.5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Fees &amp; Expenses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$0.5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Uses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$9.0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88103E2-564A-E3A9-0FCA-977C2E2DF590}"/>
              </a:ext>
            </a:extLst>
          </p:cNvPr>
          <p:cNvSpPr txBox="1"/>
          <p:nvPr/>
        </p:nvSpPr>
        <p:spPr>
          <a:xfrm>
            <a:off x="311700" y="3398975"/>
            <a:ext cx="314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Debt: $5.5 bn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Subordinated Debt: $1.5 bn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Appollo Equity: $2.0 bn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93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Pro Forma Capital Structure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20"/>
          <p:cNvGraphicFramePr/>
          <p:nvPr>
            <p:extLst>
              <p:ext uri="{D42A27DB-BD31-4B8C-83A1-F6EECF244321}">
                <p14:modId xmlns:p14="http://schemas.microsoft.com/office/powerpoint/2010/main" val="1621870990"/>
              </p:ext>
            </p:extLst>
          </p:nvPr>
        </p:nvGraphicFramePr>
        <p:xfrm>
          <a:off x="311700" y="1621050"/>
          <a:ext cx="4260300" cy="152400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4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 ($bn)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6.7 x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EV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 x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321475" y="4248975"/>
            <a:ext cx="72390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 is high but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by stable cash flows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645C171-D973-EA8D-BA72-D4ABD01ED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3698415"/>
              </p:ext>
            </p:extLst>
          </p:nvPr>
        </p:nvGraphicFramePr>
        <p:xfrm>
          <a:off x="4950068" y="1066650"/>
          <a:ext cx="4079631" cy="318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227825" y="438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Operating Projections &amp; Deleveraging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311700" y="1414925"/>
          <a:ext cx="3665100" cy="182868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22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EBITDA($bn)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Debt($bn)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Entry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3" name="Google Shape;113;p21"/>
          <p:cNvSpPr txBox="1"/>
          <p:nvPr/>
        </p:nvSpPr>
        <p:spPr>
          <a:xfrm>
            <a:off x="293607" y="4132750"/>
            <a:ext cx="77154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value creation driven primarily by </a:t>
            </a: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deleveraging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R="3810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debt reduced from ~7.0bn at close to ~$0.3bn by exit, driving equity value creation.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7A184AF-C6E5-2BD5-AFE4-08AA05F66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044102"/>
              </p:ext>
            </p:extLst>
          </p:nvPr>
        </p:nvGraphicFramePr>
        <p:xfrm>
          <a:off x="4325814" y="1010750"/>
          <a:ext cx="4343401" cy="320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Returns &amp; Sensitivity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245702" y="3886263"/>
            <a:ext cx="6849690" cy="322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Returns driven by deleveraging and subscription cash  Flows.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multiple expansion reflects improved credit profile, materially lower leverage, and increased predictability of cash flows following multi-year deleveraging.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22"/>
          <p:cNvGraphicFramePr/>
          <p:nvPr>
            <p:extLst>
              <p:ext uri="{D42A27DB-BD31-4B8C-83A1-F6EECF244321}">
                <p14:modId xmlns:p14="http://schemas.microsoft.com/office/powerpoint/2010/main" val="1065988051"/>
              </p:ext>
            </p:extLst>
          </p:nvPr>
        </p:nvGraphicFramePr>
        <p:xfrm>
          <a:off x="311700" y="1386825"/>
          <a:ext cx="3477786" cy="1905000"/>
        </p:xfrm>
        <a:graphic>
          <a:graphicData uri="http://schemas.openxmlformats.org/drawingml/2006/table">
            <a:tbl>
              <a:tblPr>
                <a:noFill/>
                <a:tableStyleId>{EB889698-720F-4991-BD18-4A35F9C88E1E}</a:tableStyleId>
              </a:tblPr>
              <a:tblGrid>
                <a:gridCol w="1738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Holding Period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Years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18-20%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2.3 x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83565BB2-D8B0-3442-F0E7-82ADDC9EE45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9422386"/>
                  </p:ext>
                </p:extLst>
              </p:nvPr>
            </p:nvGraphicFramePr>
            <p:xfrm>
              <a:off x="4060500" y="1116623"/>
              <a:ext cx="4969200" cy="29102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83565BB2-D8B0-3442-F0E7-82ADDC9EE4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0500" y="1116623"/>
                <a:ext cx="4969200" cy="291025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AA2FC13-B817-C0AE-FDA4-EB296BA6198E}"/>
              </a:ext>
            </a:extLst>
          </p:cNvPr>
          <p:cNvSpPr txBox="1"/>
          <p:nvPr/>
        </p:nvSpPr>
        <p:spPr>
          <a:xfrm>
            <a:off x="311700" y="3455376"/>
            <a:ext cx="266771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at 3.9x EBITDA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Modest EBITDA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at 7.5x EBITDA → equity uplift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Risk &amp; Mitigants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7275" y="1313825"/>
            <a:ext cx="2893200" cy="26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Risks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churn higher than expected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pricing pressure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disruption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leverage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3599050" y="1313825"/>
            <a:ext cx="2676600" cy="21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Mitigants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contracts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brand and scale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visibility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Deleveraging profile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419300" y="4409725"/>
            <a:ext cx="5856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Risks are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known, measurable, and manageable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Proceed with take-private: stable cash flows, leverage capacity, and downside protection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4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381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Works</a:t>
            </a:r>
            <a:endParaRPr sz="5381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predictable subscription revenue</a:t>
            </a:r>
            <a:endParaRPr sz="538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downside protection</a:t>
            </a:r>
            <a:endParaRPr sz="538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levers for value creation</a:t>
            </a:r>
            <a:endParaRPr sz="538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38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8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risk-adjusted equity return</a:t>
            </a:r>
            <a:r>
              <a:rPr lang="en" sz="5281" dirty="0">
                <a:solidFill>
                  <a:schemeClr val="dk1"/>
                </a:solidFill>
              </a:rPr>
              <a:t>s</a:t>
            </a:r>
            <a:endParaRPr sz="5281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307500" y="4283925"/>
            <a:ext cx="84072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 represents a classic Apollo take-private opportunity combining stability, leverage capacity, and disciplined value creation.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6189</TotalTime>
  <Words>680</Words>
  <Application>Microsoft Macintosh PowerPoint</Application>
  <PresentationFormat>On-screen Show (16:9)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   ADT Inc. Leading Professional American Security  Company for Home Solutions </vt:lpstr>
      <vt:lpstr>Transaction Overview </vt:lpstr>
      <vt:lpstr>Highly predictable, subscription-driven cash flow business.</vt:lpstr>
      <vt:lpstr>Non-cyclical demand supports downside protection</vt:lpstr>
      <vt:lpstr>Subscription Economics</vt:lpstr>
      <vt:lpstr>Apollo value creation driven by cash flow, not growth multiple expansion</vt:lpstr>
      <vt:lpstr>Sources &amp; Uses</vt:lpstr>
      <vt:lpstr>Pro Forma Capital Structure</vt:lpstr>
      <vt:lpstr>Operating Projections &amp; Deleveraging</vt:lpstr>
      <vt:lpstr>Returns &amp; Sensitivity</vt:lpstr>
      <vt:lpstr>Risk &amp; Mitigants</vt:lpstr>
      <vt:lpstr>Proceed with take-private: stable cash flows, leverage capacity, and downside protection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4</cp:revision>
  <dcterms:modified xsi:type="dcterms:W3CDTF">2026-02-03T18:03:22Z</dcterms:modified>
</cp:coreProperties>
</file>